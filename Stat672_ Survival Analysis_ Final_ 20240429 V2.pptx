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309" r:id="rId3"/>
    <p:sldId id="258" r:id="rId4"/>
    <p:sldId id="264" r:id="rId5"/>
    <p:sldId id="337" r:id="rId6"/>
    <p:sldId id="338" r:id="rId7"/>
    <p:sldId id="336" r:id="rId8"/>
    <p:sldId id="285" r:id="rId9"/>
    <p:sldId id="321" r:id="rId10"/>
    <p:sldId id="329" r:id="rId11"/>
    <p:sldId id="330" r:id="rId12"/>
    <p:sldId id="332" r:id="rId13"/>
    <p:sldId id="315" r:id="rId14"/>
    <p:sldId id="339" r:id="rId15"/>
    <p:sldId id="340" r:id="rId16"/>
    <p:sldId id="288" r:id="rId17"/>
    <p:sldId id="275" r:id="rId18"/>
    <p:sldId id="302" r:id="rId19"/>
    <p:sldId id="261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70581" autoAdjust="0"/>
  </p:normalViewPr>
  <p:slideViewPr>
    <p:cSldViewPr snapToGrid="0" snapToObjects="1">
      <p:cViewPr varScale="1">
        <p:scale>
          <a:sx n="93" d="100"/>
          <a:sy n="93" d="100"/>
        </p:scale>
        <p:origin x="1767" y="8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C1FA10-337E-DBC5-271C-BEF536E5C7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5AF37-235E-D4EE-B019-DFF3BC2CC5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07DAB-516A-408A-810A-1A144F69A6EB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C4B98-A08A-67DC-51A7-3714DF37C4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4D89A-243F-CC5D-1B99-95122974AF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74091-FDCC-4C02-9571-77C52E33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50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0CD46-B71C-47CD-A2A9-C0A4B8F53AF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F7609-D07C-4B3B-B120-4133EB1B5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868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29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4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74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dataset is obtained, censoring is processed. </a:t>
            </a:r>
          </a:p>
          <a:p>
            <a:endParaRPr lang="en-US" dirty="0"/>
          </a:p>
          <a:p>
            <a:r>
              <a:rPr lang="en-US" dirty="0"/>
              <a:t>The bottom picture is columns in the dataset, </a:t>
            </a:r>
          </a:p>
          <a:p>
            <a:r>
              <a:rPr lang="en-US" dirty="0"/>
              <a:t>The right side picture is the data type of variables in the dataset.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10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dataset contains diagnosis of three years: 2018, 2019, 2020; </a:t>
            </a:r>
          </a:p>
          <a:p>
            <a:r>
              <a:rPr lang="en-US" dirty="0"/>
              <a:t>Staging contains 0- in-situ; 1-</a:t>
            </a:r>
            <a:r>
              <a:rPr lang="en-US" sz="18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Localized ; 2-Regional ; 3-Distant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54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Surgery: 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surgery is a procedure in which a surgeon removes cancer from your body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Radiation: 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uses high doses of radiation to kill cancer cells and shrink tumors.</a:t>
            </a:r>
            <a:endParaRPr lang="en-US" dirty="0"/>
          </a:p>
          <a:p>
            <a:r>
              <a:rPr lang="en-US" dirty="0"/>
              <a:t>Systematic Therapy is to use 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drug treatments that will damage or kill cancer cells. Chemotherapy is one type of systemic therapy.</a:t>
            </a:r>
          </a:p>
          <a:p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This table shows categories in each treatment. </a:t>
            </a:r>
          </a:p>
          <a:p>
            <a:endParaRPr lang="en-US" dirty="0"/>
          </a:p>
          <a:p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Biomarker testing for cancer treatment, </a:t>
            </a:r>
          </a:p>
          <a:p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Hormone therapy, </a:t>
            </a:r>
          </a:p>
          <a:p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Hyperthermia, </a:t>
            </a:r>
          </a:p>
          <a:p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Immunotherapy, </a:t>
            </a:r>
          </a:p>
          <a:p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Photodynamic therapy,</a:t>
            </a:r>
          </a:p>
          <a:p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Stem cell transplant, </a:t>
            </a:r>
          </a:p>
          <a:p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Targeted therapy, </a:t>
            </a:r>
          </a:p>
          <a:p>
            <a:endParaRPr 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80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84% censored items, and 16% failed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ptos" panose="020B0004020202020204" pitchFamily="34" charset="0"/>
              </a:rPr>
              <a:t>Staging variable includes 0- In-Situ; 1-</a:t>
            </a:r>
            <a:r>
              <a:rPr lang="en-US" sz="12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Localized ; 2-Regional ; 3-Distant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effectLst/>
                <a:latin typeface="Aptos" panose="020B0004020202020204" pitchFamily="34" charset="0"/>
                <a:cs typeface="Arial" panose="020B0604020202020204" pitchFamily="34" charset="0"/>
              </a:rPr>
              <a:t>By log-rank test, we can see that p-value is almost zero, there are differences among each category.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effectLst/>
                <a:latin typeface="Aptos" panose="020B0004020202020204" pitchFamily="34" charset="0"/>
                <a:cs typeface="Arial" panose="020B0604020202020204" pitchFamily="34" charset="0"/>
              </a:rPr>
              <a:t>From highest to lowest survival rate, it is in-situ, localized, regional, distant. </a:t>
            </a:r>
            <a:endParaRPr lang="en-US" sz="1200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76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surgery is a procedure in which a surgeon removes cancer from your body.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1B1B1B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Within treatment of Surgery, there are surgery performed, recommended, recommended but not performed, unknown, not recommended, not performed.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By log-rank test,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From highest to lowest survival rate: surgery performed has the highest survival rate, surgery not performed has the lowest survival rate.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01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Radiation: </a:t>
            </a: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uses high doses of radiation to kill cancer cells and shrink tumors.</a:t>
            </a:r>
          </a:p>
          <a:p>
            <a:endParaRPr lang="en-US" b="0" i="0" dirty="0">
              <a:solidFill>
                <a:srgbClr val="1B1B1B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Within treatment of Radiation, there are combination of beam, radiation, beam radiation, radioisotopes, radioactive implants, refused.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By log-rank test,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From highest to lowest survival rate: </a:t>
            </a:r>
            <a:endParaRPr lang="en-US" dirty="0"/>
          </a:p>
          <a:p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Beam radiation, combination of beam, radiation have higher survival distribution. </a:t>
            </a:r>
          </a:p>
          <a:p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Radioisotopes and radioactive implants have higher survival rate but the survival rate drops down faster. </a:t>
            </a:r>
          </a:p>
          <a:p>
            <a:endParaRPr lang="en-US" b="0" i="0" dirty="0">
              <a:solidFill>
                <a:srgbClr val="1B1B1B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05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Systematic Therapy: </a:t>
            </a:r>
            <a:r>
              <a:rPr lang="en-US" b="0" i="0" dirty="0">
                <a:solidFill>
                  <a:srgbClr val="666666"/>
                </a:solidFill>
                <a:effectLst/>
                <a:highlight>
                  <a:srgbClr val="FFFFFF"/>
                </a:highlight>
                <a:latin typeface="Helvetica Neue"/>
              </a:rPr>
              <a:t>includes a large group of drug treatments that will damage or kill cancer cells.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Within treatment of Systematic Therapy, there are …</a:t>
            </a:r>
            <a:endParaRPr lang="en-US" b="0" i="0" dirty="0">
              <a:solidFill>
                <a:srgbClr val="1B1B1B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By log-rank test, we can conclude that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From highest to lowest survival rate: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ptos" panose="020B0004020202020204" pitchFamily="34" charset="0"/>
              </a:rPr>
              <a:t>Generally speaking, patients who have systematic therapy have higher survival rates than those who don’t have.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04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using Kaplan Meier and log rank test, we can use cox regression model to fit a linear regression. </a:t>
            </a:r>
          </a:p>
          <a:p>
            <a:endParaRPr lang="en-US" dirty="0"/>
          </a:p>
          <a:p>
            <a:r>
              <a:rPr lang="en-US" dirty="0"/>
              <a:t>There are two cox regression models: the first only contains stage variable, the second contains stage variable and treatment variables.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58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evaluation on two models are done by AIC and log likelihood criteria.</a:t>
            </a:r>
          </a:p>
          <a:p>
            <a:r>
              <a:rPr lang="en-US" dirty="0"/>
              <a:t>The lower value indicates a better model.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53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to check constant hazard ratio, which is the assumption of the model. </a:t>
            </a:r>
          </a:p>
          <a:p>
            <a:r>
              <a:rPr lang="en-US" dirty="0"/>
              <a:t>We can see that the model assumptions are satisfied.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F7609-D07C-4B3B-B120-4133EB1B54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4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FB0C8-E691-491F-B8C6-C3FE1EC42805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9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713A1-0258-4964-A0B4-EBBE184DDA84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5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8B381-2519-4DEB-A598-A656D6BCD88F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79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8261-9BF3-4EDA-AF6D-3167081A6B76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8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D4A5-99CB-46A5-827A-E1D16F0649E7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4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E53B-D34A-4DA6-8C75-B1B0004CE095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6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725A7-1876-4F7E-98F2-14255E45778D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6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3061D-E89D-47F8-873D-FCE6944BC023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47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511-355C-4AE7-B79A-0656C7D28653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23E74-DB35-4EBC-A800-B36000883292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5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E115-85BD-4914-89D4-1C0904AAE95F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00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8F950-412F-4F4E-B561-6498FB6D9E1C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8293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816A-C71B-4AE6-A8A0-86C9A20813F1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1C7B-4B55-4678-B66E-B51EBA9C65BF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62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02ED3-656E-4D87-B347-EE8D98069F98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4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D48F-A46B-4909-9A7F-FF3D5730A45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58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7D21A-EAD3-42BA-A026-8602B966F1A3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24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2A52-8AF9-4779-AC0C-61302D7380F3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3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857921F3-97F8-471F-AFF2-5F66A2734598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0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ACB382-7DB9-5550-4181-097CC0612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022" y="679172"/>
            <a:ext cx="7899955" cy="2049030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3000" kern="1400" spc="-50" dirty="0">
                <a:solidFill>
                  <a:schemeClr val="tx2"/>
                </a:solidFill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Multiple Covariate Regression Models for Survival Analysis</a:t>
            </a:r>
            <a:br>
              <a:rPr lang="en-US" sz="3000" kern="1400" spc="-50" dirty="0">
                <a:solidFill>
                  <a:schemeClr val="tx2"/>
                </a:solidFill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</a:br>
            <a:r>
              <a:rPr lang="en-US" sz="3000" kern="1400" spc="-50" dirty="0">
                <a:solidFill>
                  <a:schemeClr val="tx2"/>
                </a:solidFill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for CRC using SEER*Stat Data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E5C76D3-9473-47B2-73A5-EEDB14944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7837" y="3108983"/>
            <a:ext cx="1488326" cy="374445"/>
          </a:xfrm>
        </p:spPr>
        <p:txBody>
          <a:bodyPr>
            <a:normAutofit/>
          </a:bodyPr>
          <a:lstStyle/>
          <a:p>
            <a:pPr algn="l"/>
            <a:r>
              <a:rPr lang="en-US" sz="1200" dirty="0">
                <a:solidFill>
                  <a:schemeClr val="tx2"/>
                </a:solidFill>
              </a:rPr>
              <a:t>Qianqian Yao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314D3-E6D6-8DAF-A1D3-6122C13D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688" y="1388435"/>
            <a:ext cx="7395800" cy="2205157"/>
          </a:xfrm>
        </p:spPr>
        <p:txBody>
          <a:bodyPr>
            <a:noAutofit/>
          </a:bodyPr>
          <a:lstStyle/>
          <a:p>
            <a:pPr lvl="0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 &amp; 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F85502-31D3-ECF5-233E-BA09D2B1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688" y="473105"/>
            <a:ext cx="5638096" cy="802204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596A1-A743-3871-EB96-97CF8F9D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17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77F45-A819-8E76-76D1-C568C320F491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Motivation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A563E-FE9F-9726-ADFA-3452E218C411}"/>
              </a:ext>
            </a:extLst>
          </p:cNvPr>
          <p:cNvSpPr txBox="1"/>
          <p:nvPr/>
        </p:nvSpPr>
        <p:spPr>
          <a:xfrm>
            <a:off x="431710" y="1388865"/>
            <a:ext cx="8529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ptos" panose="020B0004020202020204" pitchFamily="34" charset="0"/>
              </a:rPr>
              <a:t>Background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Colorectal cancer is the second most common cause of cancer death in the United States.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Survival analysis is an essential indicator for effective early detection and improvements in treatments.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20F13E-E876-5B97-E254-1881BE53C54A}"/>
              </a:ext>
            </a:extLst>
          </p:cNvPr>
          <p:cNvSpPr txBox="1"/>
          <p:nvPr/>
        </p:nvSpPr>
        <p:spPr>
          <a:xfrm>
            <a:off x="431710" y="2341058"/>
            <a:ext cx="8529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ptos" panose="020B0004020202020204" pitchFamily="34" charset="0"/>
              </a:rPr>
              <a:t>Motivation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Obtain dataset from SEER*Stat database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Apply methodologies of Kaplan-Meier estimator and Log-Rank test to find insights on how treatments affect survival analysis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Test whether treatment variables are significant in Cox regression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B048F8-FB09-9F5D-FCB9-39FE69A7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B6C16C-6062-84CF-6E21-EB730032B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38" y="837796"/>
            <a:ext cx="4610765" cy="11566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6FF638-A255-2D43-B4F8-F010B0E72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260" y="837796"/>
            <a:ext cx="3113965" cy="35746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B72ED1-3BBB-6AAE-C7CE-78A12514C489}"/>
              </a:ext>
            </a:extLst>
          </p:cNvPr>
          <p:cNvSpPr txBox="1"/>
          <p:nvPr/>
        </p:nvSpPr>
        <p:spPr>
          <a:xfrm>
            <a:off x="542638" y="2462884"/>
            <a:ext cx="2661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Filter: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ICD-0-3-2023 Revision Expanded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ptos" panose="020B0004020202020204" pitchFamily="34" charset="0"/>
              </a:rPr>
              <a:t>Schema ID 2018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B6443-4B30-0D80-B6A9-3FC13294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BC2DC-8FAD-8212-616B-B20114AA3541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SEER*Stat</a:t>
            </a:r>
          </a:p>
        </p:txBody>
      </p:sp>
    </p:spTree>
    <p:extLst>
      <p:ext uri="{BB962C8B-B14F-4D97-AF65-F5344CB8AC3E}">
        <p14:creationId xmlns:p14="http://schemas.microsoft.com/office/powerpoint/2010/main" val="378381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BDD88-1A1D-D9BA-1EED-4BE805A40290}"/>
              </a:ext>
            </a:extLst>
          </p:cNvPr>
          <p:cNvSpPr txBox="1"/>
          <p:nvPr/>
        </p:nvSpPr>
        <p:spPr>
          <a:xfrm>
            <a:off x="188687" y="655335"/>
            <a:ext cx="5217886" cy="157992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ts val="2000"/>
              </a:lnSpc>
              <a:spcBef>
                <a:spcPts val="0"/>
              </a:spcBef>
              <a:spcAft>
                <a:spcPts val="36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If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Vital Status = Alive</a:t>
            </a: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Censor = 0; </a:t>
            </a:r>
          </a:p>
          <a:p>
            <a:pPr marL="0" marR="0">
              <a:lnSpc>
                <a:spcPts val="2000"/>
              </a:lnSpc>
              <a:spcBef>
                <a:spcPts val="0"/>
              </a:spcBef>
              <a:spcAft>
                <a:spcPts val="36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If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Vital Status = Dead </a:t>
            </a: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and COD no = Colon and Rectum: Censor = 0;</a:t>
            </a:r>
          </a:p>
          <a:p>
            <a:pPr>
              <a:lnSpc>
                <a:spcPts val="2000"/>
              </a:lnSpc>
              <a:spcAft>
                <a:spcPts val="36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If Vital Status = Dead and COD = Colon and Rectum: Censor = 1;</a:t>
            </a:r>
          </a:p>
          <a:p>
            <a:pPr marL="0" marR="0">
              <a:lnSpc>
                <a:spcPts val="2000"/>
              </a:lnSpc>
              <a:spcBef>
                <a:spcPts val="0"/>
              </a:spcBef>
              <a:spcAft>
                <a:spcPts val="36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Censor = 1 means that the individual failed and survival time is certain; </a:t>
            </a:r>
          </a:p>
          <a:p>
            <a:pPr marL="0" marR="0">
              <a:lnSpc>
                <a:spcPts val="2000"/>
              </a:lnSpc>
              <a:spcBef>
                <a:spcPts val="0"/>
              </a:spcBef>
              <a:spcAft>
                <a:spcPts val="360"/>
              </a:spcAft>
            </a:pPr>
            <a:r>
              <a:rPr lang="en-US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Censor = 0 means that the individual’s survival time is not certain;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6BC30-143E-40AA-8AC6-4ECE52CD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BC0D2-2DB0-F616-F442-4939F3BB8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2434907"/>
            <a:ext cx="5631543" cy="22170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C47246-18E3-8B19-50E2-A4122DACA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775" y="857206"/>
            <a:ext cx="3277625" cy="37947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E874C-B611-AF89-3C92-B6D2C3D81F32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Censoring</a:t>
            </a:r>
          </a:p>
        </p:txBody>
      </p:sp>
    </p:spTree>
    <p:extLst>
      <p:ext uri="{BB962C8B-B14F-4D97-AF65-F5344CB8AC3E}">
        <p14:creationId xmlns:p14="http://schemas.microsoft.com/office/powerpoint/2010/main" val="129183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FCA37-9C17-3465-E60A-59808565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09" y="4483127"/>
            <a:ext cx="57316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444D88-1D8F-3965-F7B2-FEBC3E48E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91" y="737819"/>
            <a:ext cx="3886670" cy="40965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5D86E7C-994C-D88B-A0E8-CE3155D9984F}"/>
              </a:ext>
            </a:extLst>
          </p:cNvPr>
          <p:cNvGrpSpPr/>
          <p:nvPr/>
        </p:nvGrpSpPr>
        <p:grpSpPr>
          <a:xfrm>
            <a:off x="4584815" y="480871"/>
            <a:ext cx="3579330" cy="4449058"/>
            <a:chOff x="4870929" y="386528"/>
            <a:chExt cx="3579330" cy="444905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E471B16-9B32-5CA4-99AC-CE8CB844B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70929" y="386528"/>
              <a:ext cx="3579330" cy="347232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0D0146A-1675-A979-F40E-5F881FBC2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70929" y="3858854"/>
              <a:ext cx="3579330" cy="97673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4DF835-03C3-9B82-36AC-643810C8CB1E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Year of Diagnosis, Stages</a:t>
            </a:r>
          </a:p>
        </p:txBody>
      </p:sp>
    </p:spTree>
    <p:extLst>
      <p:ext uri="{BB962C8B-B14F-4D97-AF65-F5344CB8AC3E}">
        <p14:creationId xmlns:p14="http://schemas.microsoft.com/office/powerpoint/2010/main" val="330436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168EB2-0B08-A588-97CD-384915FFA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786552"/>
              </p:ext>
            </p:extLst>
          </p:nvPr>
        </p:nvGraphicFramePr>
        <p:xfrm>
          <a:off x="221635" y="380486"/>
          <a:ext cx="6400802" cy="455851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2115">
                  <a:extLst>
                    <a:ext uri="{9D8B030D-6E8A-4147-A177-3AD203B41FA5}">
                      <a16:colId xmlns:a16="http://schemas.microsoft.com/office/drawing/2014/main" val="4043006216"/>
                    </a:ext>
                  </a:extLst>
                </a:gridCol>
                <a:gridCol w="4178687">
                  <a:extLst>
                    <a:ext uri="{9D8B030D-6E8A-4147-A177-3AD203B41FA5}">
                      <a16:colId xmlns:a16="http://schemas.microsoft.com/office/drawing/2014/main" val="4273875866"/>
                    </a:ext>
                  </a:extLst>
                </a:gridCol>
              </a:tblGrid>
              <a:tr h="27720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Interested Variables: Stage and Treatment</a:t>
                      </a:r>
                      <a:endParaRPr lang="en-US" sz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169278"/>
                  </a:ext>
                </a:extLst>
              </a:tr>
              <a:tr h="27720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</a:rPr>
                        <a:t>Stage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Aptos" panose="020B0004020202020204" pitchFamily="34" charset="0"/>
                        </a:rPr>
                        <a:t>0- In-Situ; 1-</a:t>
                      </a:r>
                      <a:r>
                        <a:rPr lang="en-US" sz="1100" kern="0" dirty="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Localized ; 2-Regional ; 3-Distant </a:t>
                      </a:r>
                      <a:endParaRPr lang="en-US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006218"/>
                  </a:ext>
                </a:extLst>
              </a:tr>
              <a:tr h="127823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Surgery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Surgery Performed, </a:t>
                      </a:r>
                    </a:p>
                    <a:p>
                      <a:r>
                        <a:rPr lang="en-US" sz="1100" dirty="0"/>
                        <a:t>Recommended, unknown if performed, </a:t>
                      </a:r>
                    </a:p>
                    <a:p>
                      <a:r>
                        <a:rPr lang="en-US" sz="1100" dirty="0"/>
                        <a:t>Recommended but not performed, </a:t>
                      </a:r>
                    </a:p>
                    <a:p>
                      <a:r>
                        <a:rPr lang="en-US" sz="1100" dirty="0"/>
                        <a:t>Unknown, Death Certificate, </a:t>
                      </a:r>
                    </a:p>
                    <a:p>
                      <a:r>
                        <a:rPr lang="en-US" sz="1100" dirty="0"/>
                        <a:t>Not recommended, </a:t>
                      </a:r>
                    </a:p>
                    <a:p>
                      <a:r>
                        <a:rPr lang="en-US" sz="1100" dirty="0"/>
                        <a:t>Not recommended Contraindicate, </a:t>
                      </a:r>
                    </a:p>
                    <a:p>
                      <a:r>
                        <a:rPr lang="en-US" sz="1100" dirty="0"/>
                        <a:t>Not performed, </a:t>
                      </a:r>
                      <a:endParaRPr lang="en-US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377688"/>
                  </a:ext>
                </a:extLst>
              </a:tr>
              <a:tr h="144763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Radiation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Combination of beam, </a:t>
                      </a:r>
                    </a:p>
                    <a:p>
                      <a:r>
                        <a:rPr lang="en-US" sz="1100" dirty="0"/>
                        <a:t>Radiation, </a:t>
                      </a:r>
                    </a:p>
                    <a:p>
                      <a:r>
                        <a:rPr lang="en-US" sz="1100" dirty="0"/>
                        <a:t>Beam radiation, </a:t>
                      </a:r>
                    </a:p>
                    <a:p>
                      <a:r>
                        <a:rPr lang="en-US" sz="1100" dirty="0"/>
                        <a:t>Recommended, unknown if administered, </a:t>
                      </a:r>
                    </a:p>
                    <a:p>
                      <a:r>
                        <a:rPr lang="en-US" sz="1100" dirty="0"/>
                        <a:t>Unknown, </a:t>
                      </a:r>
                    </a:p>
                    <a:p>
                      <a:r>
                        <a:rPr lang="en-US" sz="1100" dirty="0"/>
                        <a:t>Radioisotopes, </a:t>
                      </a:r>
                    </a:p>
                    <a:p>
                      <a:r>
                        <a:rPr lang="en-US" sz="1100" dirty="0"/>
                        <a:t>Radioactive implants, </a:t>
                      </a:r>
                    </a:p>
                    <a:p>
                      <a:r>
                        <a:rPr lang="en-US" sz="1100" dirty="0"/>
                        <a:t>Refused, </a:t>
                      </a:r>
                      <a:endParaRPr lang="en-US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342975"/>
                  </a:ext>
                </a:extLst>
              </a:tr>
              <a:tr h="127823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Systematic Therapy </a:t>
                      </a:r>
                      <a:endParaRPr lang="en-US" sz="120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Systemic therapy both before and after surgery, </a:t>
                      </a:r>
                    </a:p>
                    <a:p>
                      <a:r>
                        <a:rPr lang="en-US" sz="1100" dirty="0"/>
                        <a:t>Systemic therapy before surgery, </a:t>
                      </a:r>
                    </a:p>
                    <a:p>
                      <a:r>
                        <a:rPr lang="en-US" sz="1100" dirty="0"/>
                        <a:t>Surgery both before and after systemic therapy, </a:t>
                      </a:r>
                    </a:p>
                    <a:p>
                      <a:r>
                        <a:rPr lang="en-US" sz="1100" dirty="0"/>
                        <a:t>Therapy after surgery, </a:t>
                      </a:r>
                    </a:p>
                    <a:p>
                      <a:r>
                        <a:rPr lang="en-US" sz="1100" dirty="0"/>
                        <a:t>Intraoperative therapy, </a:t>
                      </a:r>
                    </a:p>
                    <a:p>
                      <a:r>
                        <a:rPr lang="en-US" sz="1100" dirty="0"/>
                        <a:t>Sequence unknown, </a:t>
                      </a:r>
                    </a:p>
                    <a:p>
                      <a:r>
                        <a:rPr lang="en-US" sz="1100" dirty="0"/>
                        <a:t>No systemic therapy and/or surgical procedures, </a:t>
                      </a:r>
                      <a:endParaRPr lang="en-US" sz="11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46647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E752DF-F574-F1E4-C773-BAFD99D8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E67E2E-CEC4-3E57-0325-39D818F15DF6}"/>
              </a:ext>
            </a:extLst>
          </p:cNvPr>
          <p:cNvGrpSpPr/>
          <p:nvPr/>
        </p:nvGrpSpPr>
        <p:grpSpPr>
          <a:xfrm>
            <a:off x="2527099" y="974871"/>
            <a:ext cx="5176726" cy="3945534"/>
            <a:chOff x="2369597" y="689428"/>
            <a:chExt cx="5176726" cy="394553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D6B801-9416-5240-8DDF-27794E4EB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9597" y="689428"/>
              <a:ext cx="5176726" cy="118529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14C98C8-1B16-77D9-1831-EAD7FDE0E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9597" y="1992990"/>
              <a:ext cx="5176726" cy="134942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26077AD-1A1A-D2D9-CF08-F691C01F1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69597" y="3405293"/>
              <a:ext cx="5176726" cy="1229669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5887AA-A275-2791-C56B-671DF1BBB4DB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Treatments</a:t>
            </a:r>
          </a:p>
        </p:txBody>
      </p:sp>
    </p:spTree>
    <p:extLst>
      <p:ext uri="{BB962C8B-B14F-4D97-AF65-F5344CB8AC3E}">
        <p14:creationId xmlns:p14="http://schemas.microsoft.com/office/powerpoint/2010/main" val="156884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8054A5-07C5-3345-CE52-7D4CFAA5C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757" y="1236473"/>
            <a:ext cx="4928617" cy="304299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3604EC-04B8-311B-D9A7-3FD1FDB80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01" y="674421"/>
            <a:ext cx="3992956" cy="40118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816056-5848-9FEB-9EFC-300EF9182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5F58B0-9C5D-EDFC-6BBF-753DB63E8AE9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Kaplan-Meier Estimator &amp; Log-Rank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2CEC6-7E0D-EBA0-7128-69469776FD69}"/>
              </a:ext>
            </a:extLst>
          </p:cNvPr>
          <p:cNvSpPr txBox="1"/>
          <p:nvPr/>
        </p:nvSpPr>
        <p:spPr>
          <a:xfrm>
            <a:off x="889194" y="959474"/>
            <a:ext cx="1537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84%Censored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07837-7CFC-54CC-A7C1-0064C47E289E}"/>
              </a:ext>
            </a:extLst>
          </p:cNvPr>
          <p:cNvSpPr txBox="1"/>
          <p:nvPr/>
        </p:nvSpPr>
        <p:spPr>
          <a:xfrm>
            <a:off x="2579045" y="959474"/>
            <a:ext cx="1385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16%Failed</a:t>
            </a:r>
          </a:p>
        </p:txBody>
      </p:sp>
    </p:spTree>
    <p:extLst>
      <p:ext uri="{BB962C8B-B14F-4D97-AF65-F5344CB8AC3E}">
        <p14:creationId xmlns:p14="http://schemas.microsoft.com/office/powerpoint/2010/main" val="422714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BFB93B-EE01-4717-4B5A-F3A0CD39559D}"/>
              </a:ext>
            </a:extLst>
          </p:cNvPr>
          <p:cNvSpPr txBox="1"/>
          <p:nvPr/>
        </p:nvSpPr>
        <p:spPr>
          <a:xfrm>
            <a:off x="153298" y="401881"/>
            <a:ext cx="1872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ptos" panose="020B0004020202020204" pitchFamily="34" charset="0"/>
              </a:rPr>
              <a:t>Staging Variable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DF93A-A689-F698-C180-2D0F2EFE0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571" y="1009739"/>
            <a:ext cx="6023429" cy="3718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962C62-9B78-1EC1-4EC6-9E2D998B51BC}"/>
              </a:ext>
            </a:extLst>
          </p:cNvPr>
          <p:cNvSpPr txBox="1"/>
          <p:nvPr/>
        </p:nvSpPr>
        <p:spPr>
          <a:xfrm>
            <a:off x="355600" y="771213"/>
            <a:ext cx="1600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0- In Situ,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1- Localized,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2- Regional,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3- Distant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6430E0-532A-D9EE-8F90-FEE1C5FD5343}"/>
              </a:ext>
            </a:extLst>
          </p:cNvPr>
          <p:cNvSpPr txBox="1"/>
          <p:nvPr/>
        </p:nvSpPr>
        <p:spPr>
          <a:xfrm>
            <a:off x="355600" y="2385753"/>
            <a:ext cx="2359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Rho=0: </a:t>
            </a:r>
            <a:r>
              <a:rPr lang="en-US" sz="1200" dirty="0" err="1">
                <a:solidFill>
                  <a:srgbClr val="00B050"/>
                </a:solidFill>
                <a:latin typeface="Aptos" panose="020B0004020202020204" pitchFamily="34" charset="0"/>
              </a:rPr>
              <a:t>P_value</a:t>
            </a:r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 = &lt;2e-16</a:t>
            </a:r>
          </a:p>
          <a:p>
            <a:r>
              <a:rPr lang="en-US" sz="1200" u="sng" dirty="0">
                <a:solidFill>
                  <a:srgbClr val="00B050"/>
                </a:solidFill>
                <a:latin typeface="Aptos" panose="020B0004020202020204" pitchFamily="34" charset="0"/>
              </a:rPr>
              <a:t>Rho=1: </a:t>
            </a:r>
            <a:r>
              <a:rPr lang="en-US" sz="1200" u="sng" dirty="0" err="1">
                <a:solidFill>
                  <a:srgbClr val="00B050"/>
                </a:solidFill>
                <a:latin typeface="Aptos" panose="020B0004020202020204" pitchFamily="34" charset="0"/>
              </a:rPr>
              <a:t>P_value</a:t>
            </a:r>
            <a:r>
              <a:rPr lang="en-US" sz="1200" u="sng" dirty="0">
                <a:solidFill>
                  <a:srgbClr val="00B050"/>
                </a:solidFill>
                <a:latin typeface="Aptos" panose="020B0004020202020204" pitchFamily="34" charset="0"/>
              </a:rPr>
              <a:t> = &lt;2e-16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A26C95-58E4-4223-5E7E-AE64167A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48D15-7FE7-0605-ED80-076A34341169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Kaplan-Meier Estimator &amp; Log-Rank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BFD67-DAD4-FF7C-934B-3A9B9C0C6E80}"/>
              </a:ext>
            </a:extLst>
          </p:cNvPr>
          <p:cNvSpPr txBox="1"/>
          <p:nvPr/>
        </p:nvSpPr>
        <p:spPr>
          <a:xfrm>
            <a:off x="3120571" y="4782555"/>
            <a:ext cx="3619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The earlier the detection, the higher the survival rate</a:t>
            </a:r>
          </a:p>
        </p:txBody>
      </p:sp>
    </p:spTree>
    <p:extLst>
      <p:ext uri="{BB962C8B-B14F-4D97-AF65-F5344CB8AC3E}">
        <p14:creationId xmlns:p14="http://schemas.microsoft.com/office/powerpoint/2010/main" val="1302613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E147BC-AB8E-33CA-165D-E3FBE6B8D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683" y="1078460"/>
            <a:ext cx="5926317" cy="36589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2A40E-59CD-BFC0-A184-EE19C509EB84}"/>
              </a:ext>
            </a:extLst>
          </p:cNvPr>
          <p:cNvSpPr txBox="1"/>
          <p:nvPr/>
        </p:nvSpPr>
        <p:spPr>
          <a:xfrm>
            <a:off x="0" y="357514"/>
            <a:ext cx="2360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Treatment of Surgery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03AEF-AF0B-652B-8482-296B0CE58EEA}"/>
              </a:ext>
            </a:extLst>
          </p:cNvPr>
          <p:cNvSpPr txBox="1"/>
          <p:nvPr/>
        </p:nvSpPr>
        <p:spPr>
          <a:xfrm>
            <a:off x="91440" y="675986"/>
            <a:ext cx="32644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Surgery Performed,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Recommended, unknown if performed,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Recommended but not performed,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Unknown, Death Certificate,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Not recommended,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Not recommended Contraindicate,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Not performed,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EA525F-CBC8-86F2-5EBE-C4EEA1815B9C}"/>
              </a:ext>
            </a:extLst>
          </p:cNvPr>
          <p:cNvSpPr txBox="1"/>
          <p:nvPr/>
        </p:nvSpPr>
        <p:spPr>
          <a:xfrm>
            <a:off x="197443" y="2677125"/>
            <a:ext cx="2359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Rho=0: </a:t>
            </a:r>
            <a:r>
              <a:rPr lang="en-US" sz="1200" dirty="0" err="1">
                <a:solidFill>
                  <a:srgbClr val="00B050"/>
                </a:solidFill>
                <a:latin typeface="Aptos" panose="020B0004020202020204" pitchFamily="34" charset="0"/>
              </a:rPr>
              <a:t>P_value</a:t>
            </a:r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 = &lt;2e-16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Rho=1: </a:t>
            </a:r>
            <a:r>
              <a:rPr lang="en-US" sz="1200" dirty="0" err="1">
                <a:solidFill>
                  <a:srgbClr val="00B050"/>
                </a:solidFill>
                <a:latin typeface="Aptos" panose="020B0004020202020204" pitchFamily="34" charset="0"/>
              </a:rPr>
              <a:t>P_value</a:t>
            </a:r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 = &lt;2e-16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018E0-E90C-17DD-C247-E567C903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FBD9EF-2349-992F-2B7C-B37C6ECB606E}"/>
              </a:ext>
            </a:extLst>
          </p:cNvPr>
          <p:cNvSpPr txBox="1"/>
          <p:nvPr/>
        </p:nvSpPr>
        <p:spPr>
          <a:xfrm>
            <a:off x="5500914" y="0"/>
            <a:ext cx="3643086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Kaplan-Meier Estimator &amp; Log-Rank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4F801-80EA-2181-142A-8CCD799AE746}"/>
              </a:ext>
            </a:extLst>
          </p:cNvPr>
          <p:cNvSpPr txBox="1"/>
          <p:nvPr/>
        </p:nvSpPr>
        <p:spPr>
          <a:xfrm>
            <a:off x="3147693" y="4859246"/>
            <a:ext cx="3236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Surgery should be performed if recommended</a:t>
            </a:r>
          </a:p>
        </p:txBody>
      </p:sp>
    </p:spTree>
    <p:extLst>
      <p:ext uri="{BB962C8B-B14F-4D97-AF65-F5344CB8AC3E}">
        <p14:creationId xmlns:p14="http://schemas.microsoft.com/office/powerpoint/2010/main" val="1802915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2FC710-C645-7EC2-E3C4-9FF7F5E77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458" y="1013988"/>
            <a:ext cx="5890542" cy="3636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2A40E-59CD-BFC0-A184-EE19C509EB84}"/>
              </a:ext>
            </a:extLst>
          </p:cNvPr>
          <p:cNvSpPr txBox="1"/>
          <p:nvPr/>
        </p:nvSpPr>
        <p:spPr>
          <a:xfrm>
            <a:off x="0" y="357514"/>
            <a:ext cx="2567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Treatment of Radiation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B7F53-16E3-33D5-39E7-5837A2C7647C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Kaplan-Meier Estimator &amp; Log-Rank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FE44F-EEDE-8716-A5C6-4B474709A068}"/>
              </a:ext>
            </a:extLst>
          </p:cNvPr>
          <p:cNvSpPr txBox="1"/>
          <p:nvPr/>
        </p:nvSpPr>
        <p:spPr>
          <a:xfrm>
            <a:off x="192532" y="2537987"/>
            <a:ext cx="2359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Rho=0: </a:t>
            </a:r>
            <a:r>
              <a:rPr lang="en-US" sz="1200" dirty="0" err="1">
                <a:solidFill>
                  <a:srgbClr val="00B050"/>
                </a:solidFill>
                <a:latin typeface="Aptos" panose="020B0004020202020204" pitchFamily="34" charset="0"/>
              </a:rPr>
              <a:t>P_value</a:t>
            </a:r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 = &lt;2e-16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Rho=1: </a:t>
            </a:r>
            <a:r>
              <a:rPr lang="en-US" sz="1200" dirty="0" err="1">
                <a:solidFill>
                  <a:srgbClr val="00B050"/>
                </a:solidFill>
                <a:latin typeface="Aptos" panose="020B0004020202020204" pitchFamily="34" charset="0"/>
              </a:rPr>
              <a:t>P_value</a:t>
            </a:r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 = &lt;2e-16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D310E4-E052-FE9D-8961-86408E41E963}"/>
              </a:ext>
            </a:extLst>
          </p:cNvPr>
          <p:cNvSpPr txBox="1"/>
          <p:nvPr/>
        </p:nvSpPr>
        <p:spPr>
          <a:xfrm>
            <a:off x="192532" y="726846"/>
            <a:ext cx="36753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Combination of beam,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Radiation,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Beam radiation,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Recommended, unknown if administered,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Unknown, </a:t>
            </a:r>
          </a:p>
          <a:p>
            <a:r>
              <a:rPr lang="en-US" sz="1200" dirty="0">
                <a:solidFill>
                  <a:schemeClr val="accent1"/>
                </a:solidFill>
                <a:latin typeface="Aptos" panose="020B0004020202020204" pitchFamily="34" charset="0"/>
              </a:rPr>
              <a:t>Radioisotopes, </a:t>
            </a:r>
          </a:p>
          <a:p>
            <a:r>
              <a:rPr lang="en-US" sz="1200" dirty="0">
                <a:solidFill>
                  <a:schemeClr val="accent1"/>
                </a:solidFill>
                <a:latin typeface="Aptos" panose="020B0004020202020204" pitchFamily="34" charset="0"/>
              </a:rPr>
              <a:t>Radioactive implants,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Refused,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879FD-5873-5462-5BED-6FE17D59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67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23A3C-F3AA-93D5-D56D-ACE010ECA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155" y="1182851"/>
            <a:ext cx="5835845" cy="36031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2A40E-59CD-BFC0-A184-EE19C509EB84}"/>
              </a:ext>
            </a:extLst>
          </p:cNvPr>
          <p:cNvSpPr txBox="1"/>
          <p:nvPr/>
        </p:nvSpPr>
        <p:spPr>
          <a:xfrm>
            <a:off x="0" y="357514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Treatment of Systematic Therapy</a:t>
            </a:r>
            <a:r>
              <a:rPr lang="en-US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B7F53-16E3-33D5-39E7-5837A2C7647C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Kaplan-Meier Estimator &amp; Log-Rank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BD494-6E11-7983-E1FB-699CEE837023}"/>
              </a:ext>
            </a:extLst>
          </p:cNvPr>
          <p:cNvSpPr txBox="1"/>
          <p:nvPr/>
        </p:nvSpPr>
        <p:spPr>
          <a:xfrm>
            <a:off x="338618" y="2797058"/>
            <a:ext cx="2359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Rho=0: </a:t>
            </a:r>
            <a:r>
              <a:rPr lang="en-US" sz="1200" dirty="0" err="1">
                <a:solidFill>
                  <a:srgbClr val="00B050"/>
                </a:solidFill>
                <a:latin typeface="Aptos" panose="020B0004020202020204" pitchFamily="34" charset="0"/>
              </a:rPr>
              <a:t>P_value</a:t>
            </a:r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 = &lt;2e-16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Rho=1: </a:t>
            </a:r>
            <a:r>
              <a:rPr lang="en-US" sz="1200" dirty="0" err="1">
                <a:solidFill>
                  <a:srgbClr val="00B050"/>
                </a:solidFill>
                <a:latin typeface="Aptos" panose="020B0004020202020204" pitchFamily="34" charset="0"/>
              </a:rPr>
              <a:t>P_value</a:t>
            </a:r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 = &lt;2e-16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3D66E-1407-827C-01BB-CC7F8A866953}"/>
              </a:ext>
            </a:extLst>
          </p:cNvPr>
          <p:cNvSpPr txBox="1"/>
          <p:nvPr/>
        </p:nvSpPr>
        <p:spPr>
          <a:xfrm>
            <a:off x="14549" y="706973"/>
            <a:ext cx="36678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Systemic therapy both before and after surgery,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Systemic therapy before surgery,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Surgery both before and after systemic therapy,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Therapy after surgery, </a:t>
            </a:r>
          </a:p>
          <a:p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Intraoperative therapy,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Sequence unknown, </a:t>
            </a:r>
          </a:p>
          <a:p>
            <a:r>
              <a:rPr lang="en-US" sz="1200" dirty="0">
                <a:solidFill>
                  <a:srgbClr val="00B050"/>
                </a:solidFill>
                <a:latin typeface="Aptos" panose="020B0004020202020204" pitchFamily="34" charset="0"/>
              </a:rPr>
              <a:t>No systemic therapy and/or surgical procedures,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34A3-5201-0AB0-E2C2-55E311E2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18EC3-42CE-605B-083B-C6603C3ADE02}"/>
              </a:ext>
            </a:extLst>
          </p:cNvPr>
          <p:cNvSpPr txBox="1"/>
          <p:nvPr/>
        </p:nvSpPr>
        <p:spPr>
          <a:xfrm>
            <a:off x="3308155" y="4859246"/>
            <a:ext cx="3923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Systematic therapy generally helps. </a:t>
            </a:r>
          </a:p>
        </p:txBody>
      </p:sp>
    </p:spTree>
    <p:extLst>
      <p:ext uri="{BB962C8B-B14F-4D97-AF65-F5344CB8AC3E}">
        <p14:creationId xmlns:p14="http://schemas.microsoft.com/office/powerpoint/2010/main" val="1085935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07A2B2-7B28-AEC5-91EC-E99B266CD2C2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Cox Repression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0399A6-9A41-F079-BEE3-2084F56FF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4517"/>
            <a:ext cx="6483096" cy="303858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45F4CE-6637-DBD7-068B-9F7E0279A1BA}"/>
              </a:ext>
            </a:extLst>
          </p:cNvPr>
          <p:cNvSpPr txBox="1"/>
          <p:nvPr/>
        </p:nvSpPr>
        <p:spPr>
          <a:xfrm>
            <a:off x="6572996" y="457199"/>
            <a:ext cx="2571003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Model1: </a:t>
            </a:r>
          </a:p>
          <a:p>
            <a:r>
              <a:rPr lang="en-US" sz="1200" dirty="0">
                <a:latin typeface="Aptos" panose="020B0004020202020204" pitchFamily="34" charset="0"/>
              </a:rPr>
              <a:t>Stage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9DE780-5ADB-C3B9-C7D2-00D9A0946E53}"/>
              </a:ext>
            </a:extLst>
          </p:cNvPr>
          <p:cNvSpPr txBox="1"/>
          <p:nvPr/>
        </p:nvSpPr>
        <p:spPr>
          <a:xfrm>
            <a:off x="6572995" y="3830134"/>
            <a:ext cx="2586646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Model2: </a:t>
            </a:r>
          </a:p>
          <a:p>
            <a:r>
              <a:rPr lang="en-US" sz="1200" dirty="0">
                <a:latin typeface="Aptos" panose="020B0004020202020204" pitchFamily="34" charset="0"/>
              </a:rPr>
              <a:t>Stage Variable + Treatments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EEFE5A-2713-EDE2-24C1-8A29AC6D8B56}"/>
              </a:ext>
            </a:extLst>
          </p:cNvPr>
          <p:cNvSpPr txBox="1"/>
          <p:nvPr/>
        </p:nvSpPr>
        <p:spPr>
          <a:xfrm>
            <a:off x="7184537" y="4270802"/>
            <a:ext cx="1975104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Surgery</a:t>
            </a:r>
          </a:p>
          <a:p>
            <a:r>
              <a:rPr lang="en-US" sz="1200" dirty="0">
                <a:latin typeface="Aptos" panose="020B0004020202020204" pitchFamily="34" charset="0"/>
              </a:rPr>
              <a:t>Radiation</a:t>
            </a:r>
          </a:p>
          <a:p>
            <a:r>
              <a:rPr lang="en-US" sz="1200" dirty="0">
                <a:latin typeface="Aptos" panose="020B0004020202020204" pitchFamily="34" charset="0"/>
              </a:rPr>
              <a:t>Chemotherapy</a:t>
            </a:r>
          </a:p>
          <a:p>
            <a:r>
              <a:rPr lang="en-US" sz="1200" dirty="0">
                <a:latin typeface="Aptos" panose="020B0004020202020204" pitchFamily="34" charset="0"/>
              </a:rPr>
              <a:t>Systematic Therapy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FF5749-8A4A-F842-23F2-9DC3A77FE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D56FF-EC86-240D-0EA9-38EFE97DA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29948"/>
            <a:ext cx="6483096" cy="7192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72358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A0E96-AE42-AFF1-E2E9-E79426B8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E2459A-ADED-BDA7-87BE-394F10A91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11" y="635839"/>
            <a:ext cx="6092518" cy="315770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8C9F8F-22AE-0379-0A80-EFA05F73B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260787"/>
              </p:ext>
            </p:extLst>
          </p:nvPr>
        </p:nvGraphicFramePr>
        <p:xfrm>
          <a:off x="1027611" y="3852456"/>
          <a:ext cx="6092517" cy="11125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0839">
                  <a:extLst>
                    <a:ext uri="{9D8B030D-6E8A-4147-A177-3AD203B41FA5}">
                      <a16:colId xmlns:a16="http://schemas.microsoft.com/office/drawing/2014/main" val="1293082191"/>
                    </a:ext>
                  </a:extLst>
                </a:gridCol>
                <a:gridCol w="2030839">
                  <a:extLst>
                    <a:ext uri="{9D8B030D-6E8A-4147-A177-3AD203B41FA5}">
                      <a16:colId xmlns:a16="http://schemas.microsoft.com/office/drawing/2014/main" val="2156442933"/>
                    </a:ext>
                  </a:extLst>
                </a:gridCol>
                <a:gridCol w="2030839">
                  <a:extLst>
                    <a:ext uri="{9D8B030D-6E8A-4147-A177-3AD203B41FA5}">
                      <a16:colId xmlns:a16="http://schemas.microsoft.com/office/drawing/2014/main" val="2342371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-2logLik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32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latin typeface="Aptos" panose="020B0004020202020204" pitchFamily="34" charset="0"/>
                        </a:rPr>
                        <a:t>Model1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331612.9</a:t>
                      </a:r>
                      <a:endParaRPr lang="en-US" sz="1200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331604.9 (</a:t>
                      </a:r>
                      <a:r>
                        <a:rPr lang="en-US" sz="1200" dirty="0" err="1"/>
                        <a:t>df</a:t>
                      </a:r>
                      <a:r>
                        <a:rPr lang="en-US" sz="1200" dirty="0"/>
                        <a:t>=4)</a:t>
                      </a:r>
                      <a:endParaRPr lang="en-US" sz="1200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09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ptos" panose="020B0004020202020204" pitchFamily="34" charset="0"/>
                        </a:rPr>
                        <a:t>Model2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325241</a:t>
                      </a:r>
                      <a:endParaRPr lang="en-US" sz="12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325191 (</a:t>
                      </a:r>
                      <a:r>
                        <a:rPr lang="en-US" sz="1200" b="1" dirty="0" err="1"/>
                        <a:t>df</a:t>
                      </a:r>
                      <a:r>
                        <a:rPr lang="en-US" sz="1200" b="1" dirty="0"/>
                        <a:t>=25)</a:t>
                      </a:r>
                      <a:endParaRPr lang="en-US" sz="12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1515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901BE8-7D59-E4B9-8188-1934F44859C8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Cox Repression Model</a:t>
            </a:r>
          </a:p>
        </p:txBody>
      </p:sp>
    </p:spTree>
    <p:extLst>
      <p:ext uri="{BB962C8B-B14F-4D97-AF65-F5344CB8AC3E}">
        <p14:creationId xmlns:p14="http://schemas.microsoft.com/office/powerpoint/2010/main" val="108128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910B6-0E8F-F68D-DE0D-12842083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2774F1-EB87-21AA-E602-7B0C1A03BACA}"/>
              </a:ext>
            </a:extLst>
          </p:cNvPr>
          <p:cNvGrpSpPr/>
          <p:nvPr/>
        </p:nvGrpSpPr>
        <p:grpSpPr>
          <a:xfrm>
            <a:off x="464259" y="1413470"/>
            <a:ext cx="8224991" cy="2884088"/>
            <a:chOff x="664484" y="1335093"/>
            <a:chExt cx="8224991" cy="28840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132C299-7C59-BF47-3487-A41023D69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4484" y="1335093"/>
              <a:ext cx="8224991" cy="288408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31FBA19-85E0-45CD-D838-474B38A4A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89144" y="2508494"/>
              <a:ext cx="3617112" cy="1708655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94629EB-C02D-8C22-C952-F0A301E15076}"/>
                </a:ext>
              </a:extLst>
            </p:cNvPr>
            <p:cNvSpPr txBox="1"/>
            <p:nvPr/>
          </p:nvSpPr>
          <p:spPr>
            <a:xfrm>
              <a:off x="7909505" y="2237590"/>
              <a:ext cx="3706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ptos" panose="020B0004020202020204" pitchFamily="34" charset="0"/>
                </a:rPr>
                <a:t>DF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4CC811-C28D-1D1A-B2DE-AC2F3E890A2E}"/>
                </a:ext>
              </a:extLst>
            </p:cNvPr>
            <p:cNvSpPr txBox="1"/>
            <p:nvPr/>
          </p:nvSpPr>
          <p:spPr>
            <a:xfrm>
              <a:off x="8280119" y="2237591"/>
              <a:ext cx="4219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ptos" panose="020B0004020202020204" pitchFamily="34" charset="0"/>
                </a:rPr>
                <a:t>AIC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253EBBC-0530-011C-F1D0-C37C0D906A9F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Cox Repression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4A0ADD-F366-CB28-12F5-57B6C0FE0FA4}"/>
              </a:ext>
            </a:extLst>
          </p:cNvPr>
          <p:cNvSpPr txBox="1"/>
          <p:nvPr/>
        </p:nvSpPr>
        <p:spPr>
          <a:xfrm>
            <a:off x="464259" y="996947"/>
            <a:ext cx="5668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Step function to identify the model with lowest AIC, do not select the variables </a:t>
            </a:r>
          </a:p>
        </p:txBody>
      </p:sp>
    </p:spTree>
    <p:extLst>
      <p:ext uri="{BB962C8B-B14F-4D97-AF65-F5344CB8AC3E}">
        <p14:creationId xmlns:p14="http://schemas.microsoft.com/office/powerpoint/2010/main" val="1252251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3C1C1A-EA4A-F9E9-20D3-15B2B5896F0A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Cox Repression Model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559EDD1-972D-6344-3791-37C18A2EAC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4521A-763E-67ED-A0F7-B0B92451D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70" y="1094484"/>
            <a:ext cx="3026999" cy="18689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</p:pic>
      <p:sp>
        <p:nvSpPr>
          <p:cNvPr id="6" name="AutoShape 4">
            <a:extLst>
              <a:ext uri="{FF2B5EF4-FFF2-40B4-BE49-F238E27FC236}">
                <a16:creationId xmlns:a16="http://schemas.microsoft.com/office/drawing/2014/main" id="{6EB6AA3A-D427-CE97-D7A0-8B2E6B45F1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98D17F-63EA-520D-9DDB-103E08191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70035"/>
            <a:ext cx="3021622" cy="18655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F20734-7302-334C-E582-6946690BA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129" y="1097803"/>
            <a:ext cx="3026999" cy="18689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26281D-3212-BBC2-DFDD-EF839A9E2E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752" y="1097803"/>
            <a:ext cx="3097248" cy="18655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D3A67D-D9A1-826A-CFC4-1629B85354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5129" y="2970034"/>
            <a:ext cx="3021623" cy="18655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9F640-3EE2-29AA-8D31-A08C5060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20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60F2B7D-E91D-7A9A-C103-4BD432D84F46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2762E-9233-D7D5-CA27-314CFB892319}"/>
              </a:ext>
            </a:extLst>
          </p:cNvPr>
          <p:cNvSpPr txBox="1"/>
          <p:nvPr/>
        </p:nvSpPr>
        <p:spPr>
          <a:xfrm>
            <a:off x="838962" y="996386"/>
            <a:ext cx="746607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Aptos" panose="020B0004020202020204" pitchFamily="34" charset="0"/>
              </a:rPr>
              <a:t>Treatment Variables: 	</a:t>
            </a:r>
          </a:p>
          <a:p>
            <a:pPr algn="just"/>
            <a:r>
              <a:rPr lang="en-US" sz="1400" i="1" u="sng" dirty="0">
                <a:latin typeface="Aptos" panose="020B0004020202020204" pitchFamily="34" charset="0"/>
              </a:rPr>
              <a:t>Surgery</a:t>
            </a:r>
            <a:r>
              <a:rPr lang="en-US" sz="1400" dirty="0">
                <a:latin typeface="Aptos" panose="020B0004020202020204" pitchFamily="34" charset="0"/>
              </a:rPr>
              <a:t>:   Surgery is better to perform if it is recommended. </a:t>
            </a:r>
          </a:p>
          <a:p>
            <a:pPr algn="just"/>
            <a:endParaRPr lang="en-US" sz="1400" dirty="0">
              <a:latin typeface="Aptos" panose="020B0004020202020204" pitchFamily="34" charset="0"/>
            </a:endParaRPr>
          </a:p>
          <a:p>
            <a:pPr algn="just"/>
            <a:r>
              <a:rPr lang="en-US" sz="1400" i="1" u="sng" dirty="0">
                <a:latin typeface="Aptos" panose="020B0004020202020204" pitchFamily="34" charset="0"/>
              </a:rPr>
              <a:t>Radiation</a:t>
            </a:r>
            <a:r>
              <a:rPr lang="en-US" sz="1400" dirty="0">
                <a:latin typeface="Aptos" panose="020B0004020202020204" pitchFamily="34" charset="0"/>
              </a:rPr>
              <a:t>: Beam radiation have better survival rate at later phase; Patients who did Radioisotopes and Radioactive implants have better survival rate at the beginning phase, later the survival rate drops.  </a:t>
            </a:r>
          </a:p>
          <a:p>
            <a:pPr algn="just"/>
            <a:endParaRPr lang="en-US" sz="1400" dirty="0">
              <a:latin typeface="Aptos" panose="020B0004020202020204" pitchFamily="34" charset="0"/>
            </a:endParaRPr>
          </a:p>
          <a:p>
            <a:pPr algn="just"/>
            <a:r>
              <a:rPr lang="en-US" sz="1400" i="1" u="sng" dirty="0">
                <a:latin typeface="Aptos" panose="020B0004020202020204" pitchFamily="34" charset="0"/>
              </a:rPr>
              <a:t>Systematic Therapy:</a:t>
            </a:r>
            <a:r>
              <a:rPr lang="en-US" sz="1400" i="1" dirty="0">
                <a:latin typeface="Aptos" panose="020B0004020202020204" pitchFamily="34" charset="0"/>
              </a:rPr>
              <a:t>   </a:t>
            </a:r>
            <a:r>
              <a:rPr lang="en-US" sz="1400" dirty="0">
                <a:latin typeface="Aptos" panose="020B0004020202020204" pitchFamily="34" charset="0"/>
              </a:rPr>
              <a:t>helps to improve survival rate.</a:t>
            </a:r>
          </a:p>
          <a:p>
            <a:pPr algn="just"/>
            <a:endParaRPr lang="en-US" sz="1400" dirty="0">
              <a:latin typeface="Aptos" panose="020B0004020202020204" pitchFamily="34" charset="0"/>
            </a:endParaRPr>
          </a:p>
          <a:p>
            <a:pPr algn="just"/>
            <a:endParaRPr lang="en-US" sz="1400" dirty="0">
              <a:latin typeface="Aptos" panose="020B0004020202020204" pitchFamily="34" charset="0"/>
            </a:endParaRPr>
          </a:p>
          <a:p>
            <a:pPr algn="just"/>
            <a:r>
              <a:rPr lang="en-US" sz="1400" b="1" dirty="0">
                <a:latin typeface="Aptos" panose="020B0004020202020204" pitchFamily="34" charset="0"/>
              </a:rPr>
              <a:t>Cox Regression Models: </a:t>
            </a:r>
          </a:p>
          <a:p>
            <a:pPr algn="just"/>
            <a:r>
              <a:rPr lang="en-US" sz="1400" dirty="0">
                <a:latin typeface="Aptos" panose="020B0004020202020204" pitchFamily="34" charset="0"/>
              </a:rPr>
              <a:t>The treatments are statistically significant in cox regression model. </a:t>
            </a:r>
          </a:p>
          <a:p>
            <a:pPr algn="just"/>
            <a:r>
              <a:rPr lang="en-US" sz="1400" dirty="0">
                <a:latin typeface="Aptos" panose="020B0004020202020204" pitchFamily="34" charset="0"/>
              </a:rPr>
              <a:t>More variables can be included in the model, including geographic, tumor size, and use step() function to identify a model with lowest AIC value. </a:t>
            </a:r>
          </a:p>
          <a:p>
            <a:pPr algn="just"/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E87C54-C6F9-D6EA-165C-7224E94F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4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CF9D8-B3E5-33B2-01B2-5F7092238C10}"/>
              </a:ext>
            </a:extLst>
          </p:cNvPr>
          <p:cNvSpPr txBox="1"/>
          <p:nvPr/>
        </p:nvSpPr>
        <p:spPr>
          <a:xfrm>
            <a:off x="4851400" y="0"/>
            <a:ext cx="429260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2D522-D59B-D277-E954-31A4FF6E75FC}"/>
              </a:ext>
            </a:extLst>
          </p:cNvPr>
          <p:cNvSpPr txBox="1"/>
          <p:nvPr/>
        </p:nvSpPr>
        <p:spPr>
          <a:xfrm>
            <a:off x="448056" y="604862"/>
            <a:ext cx="8046720" cy="424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Joel S. Brown, Sarah R. Amend, et al. (2023). Updating the Definition of Cancer. Updating of the Definition of Cancer. Molecular Cancer Research 2023; 21:1142-7. DOI: 10.1158/1541-7786.MCR-23-0411.</a:t>
            </a:r>
          </a:p>
          <a:p>
            <a:pPr marL="0" marR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Rebecca L. Siegel MPH, Nikita Sandeep Wagle MBBS, et al. (2023). Colorectal Cancer Statistics, 2023. CA Cancer J Clin. 2023; 73:233-254. DOI: 10.3322/caac.21772. </a:t>
            </a:r>
          </a:p>
          <a:p>
            <a:pPr marL="0" marR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Konstantina Kourou, Konstantinos P.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Exarchos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et al. (2021). Applied machine learning in cancer research: a systematic review for patient diagnosis, classification and prognosis.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ElSEVIER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Computational and Structural Biotechnology Journal 19 (2021) 5546-5555. DOI: 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https://doi.org/10.1016/j.csbj.2021.10.006. </a:t>
            </a:r>
          </a:p>
          <a:p>
            <a:pPr marL="0" marR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Fadi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Alharbi, Aleksandar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Vakanski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(2023). Machine Learning Methods for Cancer Classification Using Gege Expression Data: A Review. Bioengineering 2023, 10, 173. DOI: https://doi.org/10.3390/ bioengineering10020173. </a:t>
            </a:r>
          </a:p>
          <a:p>
            <a:pPr marL="0" marR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Enrico Moiso, Alexander Farahani, et al. (2022). Developmental Deconvolution for Classification of Cancer Origin. Cancer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Discov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2022; 12-2566-85. DOI: 10.1158/2159-8290.CD-21-1443. </a:t>
            </a:r>
          </a:p>
          <a:p>
            <a:pPr marL="0" marR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Laura Banias, Ioan Jung, et al. (2022). From Dukes-MAC Staging System to Molecular Classification: Evolving Concepts in Colorectal Cancer. International Journal of Molecular Sciences, 2022, 23, 9455. DOI: https:// doi.org/10.3390/ijms23169455. </a:t>
            </a:r>
          </a:p>
          <a:p>
            <a:pPr marL="0" marR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Samar Abd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ElHafeez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Graziella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Darrigo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et al. (2021). Methods to Analyze Time-to-Event Data: The Cox Regression Analysis. Oxidative Medicine and Cellular Longevity, Volume 2021, Article ID 1302811. 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DOI: https://doi.org/10.1155/2021/1302811. </a:t>
            </a:r>
          </a:p>
          <a:p>
            <a:pPr marL="0" marR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Brandon George, Samantha Seals, et al. (2014), Survival analysis and regression models. J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Nucl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1100" kern="1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Cardiol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2014 August, 21(4): 686–694. 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DOI 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:10.1007/s12350-014-9908-2.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F59867-26E1-C3F3-2747-D52165E0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1615" y="4573718"/>
            <a:ext cx="57316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947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1D809B-32C2-4C52-0706-9866F6DE8422}"/>
              </a:ext>
            </a:extLst>
          </p:cNvPr>
          <p:cNvSpPr txBox="1"/>
          <p:nvPr/>
        </p:nvSpPr>
        <p:spPr>
          <a:xfrm>
            <a:off x="2025747" y="1925419"/>
            <a:ext cx="4501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r>
              <a:rPr lang="en-US" dirty="0"/>
              <a:t>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Q &amp; 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BA7556-E5B2-862E-DDF1-D0E33416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7429" y="4661265"/>
            <a:ext cx="57316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9214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2043</TotalTime>
  <Words>1614</Words>
  <Application>Microsoft Office PowerPoint</Application>
  <PresentationFormat>On-screen Show (16:9)</PresentationFormat>
  <Paragraphs>233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Helvetica Neue</vt:lpstr>
      <vt:lpstr>Aptos</vt:lpstr>
      <vt:lpstr>Aptos Display</vt:lpstr>
      <vt:lpstr>Arial</vt:lpstr>
      <vt:lpstr>Calibri</vt:lpstr>
      <vt:lpstr>Open Sans</vt:lpstr>
      <vt:lpstr>Times New Roman</vt:lpstr>
      <vt:lpstr>Tw Cen MT</vt:lpstr>
      <vt:lpstr>Droplet</vt:lpstr>
      <vt:lpstr>Multiple Covariate Regression Models for Survival Analysis for CRC using SEER*Stat Data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Outlier Study and Linear Regression Diagnosis for Stock Price Anomaly Detections</dc:title>
  <dc:creator>Qianqian Yao, Bryce Fike</dc:creator>
  <cp:keywords/>
  <cp:lastModifiedBy>Andreea Q.Y</cp:lastModifiedBy>
  <cp:revision>246</cp:revision>
  <dcterms:created xsi:type="dcterms:W3CDTF">2023-11-13T22:37:33Z</dcterms:created>
  <dcterms:modified xsi:type="dcterms:W3CDTF">2024-04-30T20:45:54Z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2023-11-13</vt:lpwstr>
  </property>
  <property fmtid="{D5CDD505-2E9C-101B-9397-08002B2CF9AE}" pid="3" name="output">
    <vt:lpwstr>powerpoint_presentation</vt:lpwstr>
  </property>
</Properties>
</file>
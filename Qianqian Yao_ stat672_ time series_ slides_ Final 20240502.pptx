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9" r:id="rId3"/>
    <p:sldId id="258" r:id="rId4"/>
    <p:sldId id="332" r:id="rId5"/>
    <p:sldId id="334" r:id="rId6"/>
    <p:sldId id="335" r:id="rId7"/>
    <p:sldId id="331" r:id="rId8"/>
    <p:sldId id="264" r:id="rId9"/>
    <p:sldId id="336" r:id="rId10"/>
    <p:sldId id="337" r:id="rId11"/>
    <p:sldId id="275" r:id="rId12"/>
    <p:sldId id="339" r:id="rId13"/>
    <p:sldId id="338" r:id="rId14"/>
    <p:sldId id="340" r:id="rId15"/>
    <p:sldId id="341" r:id="rId16"/>
    <p:sldId id="342" r:id="rId17"/>
    <p:sldId id="344" r:id="rId18"/>
    <p:sldId id="345" r:id="rId19"/>
    <p:sldId id="347" r:id="rId20"/>
    <p:sldId id="346" r:id="rId21"/>
    <p:sldId id="330" r:id="rId22"/>
    <p:sldId id="261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81829" autoAdjust="0"/>
  </p:normalViewPr>
  <p:slideViewPr>
    <p:cSldViewPr snapToGrid="0" snapToObjects="1">
      <p:cViewPr varScale="1">
        <p:scale>
          <a:sx n="108" d="100"/>
          <a:sy n="108" d="100"/>
        </p:scale>
        <p:origin x="1324" y="8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1FA10-337E-DBC5-271C-BEF536E5C7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5AF37-235E-D4EE-B019-DFF3BC2CC5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07DAB-516A-408A-810A-1A144F69A6EB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C4B98-A08A-67DC-51A7-3714DF37C4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4D89A-243F-CC5D-1B99-95122974A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74091-FDCC-4C02-9571-77C52E33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50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0CD46-B71C-47CD-A2A9-C0A4B8F53AFE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7609-D07C-4B3B-B120-4133EB1B5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868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project is titled as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2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this project,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outliers? </a:t>
            </a:r>
          </a:p>
          <a:p>
            <a:endParaRPr lang="en-US" dirty="0"/>
          </a:p>
          <a:p>
            <a:r>
              <a:rPr lang="en-US" dirty="0"/>
              <a:t>Outliers and anomalies can be used interchangeably.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4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2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data is obtained, the first step is to check stationary,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5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outliers? </a:t>
            </a:r>
          </a:p>
          <a:p>
            <a:endParaRPr lang="en-US" dirty="0"/>
          </a:p>
          <a:p>
            <a:r>
              <a:rPr lang="en-US" dirty="0"/>
              <a:t>Outliers and anomalies can be used interchangeably.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63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outliers? </a:t>
            </a:r>
          </a:p>
          <a:p>
            <a:endParaRPr lang="en-US" dirty="0"/>
          </a:p>
          <a:p>
            <a:r>
              <a:rPr lang="en-US" dirty="0"/>
              <a:t>Outliers and anomalies can be used interchangeably.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5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total 7 variables: </a:t>
            </a:r>
          </a:p>
          <a:p>
            <a:endParaRPr lang="en-US" dirty="0"/>
          </a:p>
          <a:p>
            <a:r>
              <a:rPr lang="en-US" dirty="0"/>
              <a:t>Tested stationary of oil temperature, </a:t>
            </a:r>
          </a:p>
          <a:p>
            <a:r>
              <a:rPr lang="en-US" dirty="0"/>
              <a:t>Checked ACF PACF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83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1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FB0C8-E691-491F-B8C6-C3FE1EC42805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3A1-0258-4964-A0B4-EBBE184DDA84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381-2519-4DEB-A598-A656D6BCD88F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7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8261-9BF3-4EDA-AF6D-3167081A6B76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D4A5-99CB-46A5-827A-E1D16F0649E7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4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E53B-D34A-4DA6-8C75-B1B0004CE095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725A7-1876-4F7E-98F2-14255E45778D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6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3061D-E89D-47F8-873D-FCE6944BC023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4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511-355C-4AE7-B79A-0656C7D28653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3E74-DB35-4EBC-A800-B36000883292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5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E115-85BD-4914-89D4-1C0904AAE95F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0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F950-412F-4F4E-B561-6498FB6D9E1C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29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816A-C71B-4AE6-A8A0-86C9A20813F1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C7B-4B55-4678-B66E-B51EBA9C65BF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2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2ED3-656E-4D87-B347-EE8D98069F98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48F-A46B-4909-9A7F-FF3D5730A45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5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D21A-EAD3-42BA-A026-8602B966F1A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24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2A52-8AF9-4779-AC0C-61302D7380F3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57921F3-97F8-471F-AFF2-5F66A2734598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0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ouhaoyi/ETDatas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6.png"/><Relationship Id="rId7" Type="http://schemas.openxmlformats.org/officeDocument/2006/relationships/image" Target="../media/image3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ACB382-7DB9-5550-4181-097CC0612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816" y="1496900"/>
            <a:ext cx="7899955" cy="954604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  <a:t>Analysis of Time Series Models </a:t>
            </a:r>
            <a:b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</a:br>
            <a:r>
              <a:rPr lang="en-US" sz="2400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rPr>
              <a:t>for Electricity Consumption Forecasting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E5C76D3-9473-47B2-73A5-EEDB1494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281" y="2794058"/>
            <a:ext cx="1333023" cy="374445"/>
          </a:xfrm>
        </p:spPr>
        <p:txBody>
          <a:bodyPr>
            <a:normAutofit/>
          </a:bodyPr>
          <a:lstStyle/>
          <a:p>
            <a:pPr algn="l"/>
            <a:r>
              <a:rPr lang="en-US" sz="1200" dirty="0">
                <a:solidFill>
                  <a:schemeClr val="tx2"/>
                </a:solidFill>
              </a:rPr>
              <a:t>Qianqian Yao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314D3-E6D6-8DAF-A1D3-6122C13D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087" y="1607057"/>
            <a:ext cx="3819827" cy="2385279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Background of Time Series Analysis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Project motivation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endParaRPr sz="1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F85502-31D3-ECF5-233E-BA09D2B1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7" y="657205"/>
            <a:ext cx="3819827" cy="80220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Contents</a:t>
            </a:r>
            <a:endParaRPr sz="24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596A1-A743-3871-EB96-97CF8F9D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B4280C-F28B-AE09-AFDD-8891BC4E9161}"/>
                  </a:ext>
                </a:extLst>
              </p:cNvPr>
              <p:cNvSpPr txBox="1"/>
              <p:nvPr/>
            </p:nvSpPr>
            <p:spPr>
              <a:xfrm>
                <a:off x="734787" y="791934"/>
                <a:ext cx="73396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ptos" panose="020B0004020202020204" pitchFamily="34" charset="0"/>
                  </a:rPr>
                  <a:t>A </a:t>
                </a:r>
                <a:r>
                  <a:rPr lang="en-US" sz="1200" b="1" dirty="0">
                    <a:latin typeface="Aptos" panose="020B0004020202020204" pitchFamily="34" charset="0"/>
                  </a:rPr>
                  <a:t>Time Series </a:t>
                </a:r>
                <a:r>
                  <a:rPr lang="en-US" sz="1200" dirty="0">
                    <a:latin typeface="Aptos" panose="020B0004020202020204" pitchFamily="34" charset="0"/>
                  </a:rPr>
                  <a:t>is a collection of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, each of which is indexed by time t, </a:t>
                </a:r>
                <a:r>
                  <a:rPr lang="en-US" sz="1200" dirty="0" err="1">
                    <a:latin typeface="Aptos" panose="020B0004020202020204" pitchFamily="34" charset="0"/>
                  </a:rPr>
                  <a:t>ie</a:t>
                </a:r>
                <a:r>
                  <a:rPr lang="en-US" sz="1200" dirty="0">
                    <a:latin typeface="Aptos" panose="020B0004020202020204" pitchFamily="34" charset="0"/>
                  </a:rPr>
                  <a:t>., the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is made at a specific time t.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B4280C-F28B-AE09-AFDD-8891BC4E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87" y="791934"/>
                <a:ext cx="7339692" cy="461665"/>
              </a:xfrm>
              <a:prstGeom prst="rect">
                <a:avLst/>
              </a:prstGeom>
              <a:blipFill>
                <a:blip r:embed="rId3"/>
                <a:stretch>
                  <a:fillRect l="-83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33BE74-8C9F-2E96-471B-FEE9710E1381}"/>
                  </a:ext>
                </a:extLst>
              </p:cNvPr>
              <p:cNvSpPr txBox="1"/>
              <p:nvPr/>
            </p:nvSpPr>
            <p:spPr>
              <a:xfrm>
                <a:off x="734787" y="1550229"/>
                <a:ext cx="71507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ptos" panose="020B0004020202020204" pitchFamily="34" charset="0"/>
                  </a:rPr>
                  <a:t>A </a:t>
                </a:r>
                <a:r>
                  <a:rPr lang="en-US" sz="1200" b="1" dirty="0">
                    <a:latin typeface="Aptos" panose="020B0004020202020204" pitchFamily="34" charset="0"/>
                  </a:rPr>
                  <a:t>Time Series Model </a:t>
                </a:r>
                <a:r>
                  <a:rPr lang="en-US" sz="1200" dirty="0">
                    <a:latin typeface="Aptos" panose="020B0004020202020204" pitchFamily="34" charset="0"/>
                  </a:rPr>
                  <a:t>for the observed data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a specification of the joint distributions (or possibly only the mean and covariance) of a sequence of random variables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of which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postulated to be a realization.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33BE74-8C9F-2E96-471B-FEE9710E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87" y="1550229"/>
                <a:ext cx="7150722" cy="646331"/>
              </a:xfrm>
              <a:prstGeom prst="rect">
                <a:avLst/>
              </a:prstGeom>
              <a:blipFill>
                <a:blip r:embed="rId4"/>
                <a:stretch>
                  <a:fillRect l="-85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432BB1C-EC9E-1901-368F-033D359FDD4F}"/>
              </a:ext>
            </a:extLst>
          </p:cNvPr>
          <p:cNvSpPr txBox="1"/>
          <p:nvPr/>
        </p:nvSpPr>
        <p:spPr>
          <a:xfrm>
            <a:off x="734787" y="2524297"/>
            <a:ext cx="73396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ptos" panose="020B0004020202020204" pitchFamily="34" charset="0"/>
              </a:rPr>
              <a:t>Objectives of Time Series Analysis</a:t>
            </a:r>
            <a:r>
              <a:rPr lang="en-US" sz="1200" dirty="0">
                <a:latin typeface="Aptos" panose="020B0004020202020204" pitchFamily="34" charset="0"/>
              </a:rPr>
              <a:t>: Modeling and Forecasting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1- set up a probability model to represent data;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2- estimate parameters in the model;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3- check the goodness of the model fit for the data;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4- use the fitted model to enhance our understanding of the mechanism generating the series; </a:t>
            </a:r>
          </a:p>
          <a:p>
            <a:pPr algn="just"/>
            <a:r>
              <a:rPr lang="en-US" sz="1200" dirty="0">
                <a:latin typeface="Aptos" panose="020B0004020202020204" pitchFamily="34" charset="0"/>
              </a:rPr>
              <a:t>5- once the probability model has been established, we may use it to summarize the data or forecast (predict) the future values, etc.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8C574C-8584-D8DE-4B7F-EA5F4D6E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992"/>
            <a:ext cx="3943350" cy="2405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2A4D54-431D-8A7C-36A2-4425A726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8246"/>
            <a:ext cx="3943350" cy="2434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7C859-C174-E7FD-9AD2-368513868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367" y="560566"/>
            <a:ext cx="3165634" cy="19545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10C01F-27FC-B4A3-307D-A4E6B1B8B6F4}"/>
              </a:ext>
            </a:extLst>
          </p:cNvPr>
          <p:cNvSpPr txBox="1"/>
          <p:nvPr/>
        </p:nvSpPr>
        <p:spPr>
          <a:xfrm>
            <a:off x="1249871" y="333261"/>
            <a:ext cx="1590564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Real World Examples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6B1AB-F1F0-DB41-5CE8-F36C1BD69FB9}"/>
              </a:ext>
            </a:extLst>
          </p:cNvPr>
          <p:cNvSpPr txBox="1"/>
          <p:nvPr/>
        </p:nvSpPr>
        <p:spPr>
          <a:xfrm>
            <a:off x="1356218" y="560565"/>
            <a:ext cx="1230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Global warming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38930-FF99-5D15-BDBB-B81A9591458B}"/>
              </a:ext>
            </a:extLst>
          </p:cNvPr>
          <p:cNvSpPr txBox="1"/>
          <p:nvPr/>
        </p:nvSpPr>
        <p:spPr>
          <a:xfrm>
            <a:off x="1105172" y="2917617"/>
            <a:ext cx="2009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New Yorker Stock Exchange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1B85C-6CCB-C0CF-72B0-8BF941513B0C}"/>
              </a:ext>
            </a:extLst>
          </p:cNvPr>
          <p:cNvSpPr txBox="1"/>
          <p:nvPr/>
        </p:nvSpPr>
        <p:spPr>
          <a:xfrm>
            <a:off x="6277838" y="283835"/>
            <a:ext cx="2014141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 Generated Examples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B03902-005D-4927-8888-EB52EC08E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03" y="2039369"/>
            <a:ext cx="2981816" cy="184101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67046-25D6-A2CD-D671-B46CB4CDB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838" y="3370075"/>
            <a:ext cx="2866162" cy="176960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7397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25F822-1CA3-23BC-579F-5EC83A1C3CF9}"/>
              </a:ext>
            </a:extLst>
          </p:cNvPr>
          <p:cNvSpPr txBox="1"/>
          <p:nvPr/>
        </p:nvSpPr>
        <p:spPr>
          <a:xfrm>
            <a:off x="47035" y="61548"/>
            <a:ext cx="124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Stationary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DF6CF3-5510-E8E8-ECCC-11C962231AC5}"/>
                  </a:ext>
                </a:extLst>
              </p:cNvPr>
              <p:cNvSpPr txBox="1"/>
              <p:nvPr/>
            </p:nvSpPr>
            <p:spPr>
              <a:xfrm>
                <a:off x="0" y="460965"/>
                <a:ext cx="3933699" cy="64633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ptos" panose="020B0004020202020204" pitchFamily="34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} is stationary if </a:t>
                </a:r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=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) is independent of t (it is a constant);</a:t>
                </a:r>
              </a:p>
              <a:p>
                <a:pPr marL="342900" indent="-342900">
                  <a:buAutoNum type="arabicParenR"/>
                </a:pPr>
                <a:r>
                  <a:rPr lang="en-US" sz="1200" dirty="0">
                    <a:latin typeface="Cambria Math" panose="02040503050406030204" pitchFamily="18" charset="0"/>
                  </a:rPr>
                  <a:t>Cor(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2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latin typeface="Cambria Math" panose="02040503050406030204" pitchFamily="18" charset="0"/>
                  </a:rPr>
                  <a:t>) is a function of h only;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DF6CF3-5510-E8E8-ECCC-11C962231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0965"/>
                <a:ext cx="3933699" cy="646331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DE0AD3E-3286-C61C-5F0E-36AC24ACBC10}"/>
              </a:ext>
            </a:extLst>
          </p:cNvPr>
          <p:cNvSpPr txBox="1"/>
          <p:nvPr/>
        </p:nvSpPr>
        <p:spPr>
          <a:xfrm>
            <a:off x="0" y="1112567"/>
            <a:ext cx="3933699" cy="646331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This condition makes sure the data are homogeneous, </a:t>
            </a:r>
          </a:p>
          <a:p>
            <a:r>
              <a:rPr lang="en-US" sz="1200" dirty="0">
                <a:latin typeface="Aptos" panose="020B0004020202020204" pitchFamily="34" charset="0"/>
              </a:rPr>
              <a:t>so that the data can be modeled. </a:t>
            </a:r>
          </a:p>
          <a:p>
            <a:r>
              <a:rPr lang="en-US" sz="1200" dirty="0">
                <a:latin typeface="Aptos" panose="020B0004020202020204" pitchFamily="34" charset="0"/>
              </a:rPr>
              <a:t>The ways to check stationary:  ACF &amp; PACF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B69741-E76F-DD61-663D-2B04F1FFF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36" y="290812"/>
            <a:ext cx="4237264" cy="26161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7A61D2-8558-5B1E-D4B9-EC8118AD0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7" y="2527353"/>
            <a:ext cx="4237264" cy="26161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409FEF-179C-11D3-C1B8-2FE2EA96F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42770"/>
            <a:ext cx="3933699" cy="139562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355C7B-CE57-296A-4FFE-F6280DC04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11732"/>
            <a:ext cx="3331029" cy="20317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624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Background of Time Series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829F2C-3DCA-7AF4-2AC5-7BF030FE2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88403"/>
            <a:ext cx="4578364" cy="14954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B8307-0F68-42D7-3A59-74D833C5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36" y="290812"/>
            <a:ext cx="4237264" cy="2616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AB682B-1906-77E7-C1FE-6EC00A70E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7" y="2527353"/>
            <a:ext cx="4237264" cy="26161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700E76-04EA-7AA2-BD6A-EED0E45FD7FB}"/>
              </a:ext>
            </a:extLst>
          </p:cNvPr>
          <p:cNvSpPr txBox="1"/>
          <p:nvPr/>
        </p:nvSpPr>
        <p:spPr>
          <a:xfrm>
            <a:off x="7784354" y="947417"/>
            <a:ext cx="77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Tails off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AB1C1-00B3-7741-E0F3-F5D65F458427}"/>
              </a:ext>
            </a:extLst>
          </p:cNvPr>
          <p:cNvSpPr txBox="1"/>
          <p:nvPr/>
        </p:nvSpPr>
        <p:spPr>
          <a:xfrm>
            <a:off x="7231271" y="3324983"/>
            <a:ext cx="1571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Cut off after lag=2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ADD3F4-E522-208E-2C91-CE13FDDF84E2}"/>
              </a:ext>
            </a:extLst>
          </p:cNvPr>
          <p:cNvSpPr txBox="1"/>
          <p:nvPr/>
        </p:nvSpPr>
        <p:spPr>
          <a:xfrm>
            <a:off x="1216480" y="1610483"/>
            <a:ext cx="702128" cy="4082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1A2F28-CC3F-24D1-8EDE-55D79758CC64}"/>
              </a:ext>
            </a:extLst>
          </p:cNvPr>
          <p:cNvSpPr txBox="1"/>
          <p:nvPr/>
        </p:nvSpPr>
        <p:spPr>
          <a:xfrm>
            <a:off x="2" y="2459639"/>
            <a:ext cx="4237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Modeling selection for Global Warming: AR(2)</a:t>
            </a:r>
          </a:p>
          <a:p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1200" dirty="0">
                <a:latin typeface="Aptos" panose="020B0004020202020204" pitchFamily="34" charset="0"/>
              </a:rPr>
              <a:t>We are not sure whether there are other models appropriate for Global Warming</a:t>
            </a:r>
          </a:p>
        </p:txBody>
      </p:sp>
    </p:spTree>
    <p:extLst>
      <p:ext uri="{BB962C8B-B14F-4D97-AF65-F5344CB8AC3E}">
        <p14:creationId xmlns:p14="http://schemas.microsoft.com/office/powerpoint/2010/main" val="1159973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29418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algn="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F63CD-0BFB-379B-0422-531DA83CF07F}"/>
              </a:ext>
            </a:extLst>
          </p:cNvPr>
          <p:cNvSpPr txBox="1"/>
          <p:nvPr/>
        </p:nvSpPr>
        <p:spPr>
          <a:xfrm>
            <a:off x="824593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361E5-9E28-04CC-60A2-8643AFDC15F3}"/>
              </a:ext>
            </a:extLst>
          </p:cNvPr>
          <p:cNvSpPr txBox="1"/>
          <p:nvPr/>
        </p:nvSpPr>
        <p:spPr>
          <a:xfrm>
            <a:off x="6188528" y="4853192"/>
            <a:ext cx="2955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  <a:hlinkClick r:id="rId3"/>
              </a:rPr>
              <a:t>https://github.com/zhouhaoyi/ETDataset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A35B1-BCF0-F6B4-4595-E4D76A77D9CE}"/>
              </a:ext>
            </a:extLst>
          </p:cNvPr>
          <p:cNvSpPr txBox="1"/>
          <p:nvPr/>
        </p:nvSpPr>
        <p:spPr>
          <a:xfrm>
            <a:off x="432470" y="995808"/>
            <a:ext cx="813186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address climate change, we can discover catalysts to develop new energy resources, on the other hand we also should save the current energy resources.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Predicting the electric power consumption precisely on demand can save energy.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electric power distribution problem is the distribution of electricity to different areas depends on its sequential usage, but predicting the following demand of a specific area is difficult, as it varies with weekdays, holidays, seasons, weather, temperatures, etc.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causes unnecessary waste of electricity and equipment depreciation.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is one efficient strategy to solve this problem is </a:t>
            </a: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 predict the electrical transformers’ oil temperature </a:t>
            </a: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because the oil temperature can reflect the electricity transformer.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dataset</a:t>
            </a: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is historical records of oil temperatures measured at electricity distribution stations. </a:t>
            </a:r>
          </a:p>
          <a:p>
            <a:pPr marL="171450" indent="-171450" algn="just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This </a:t>
            </a:r>
            <a:r>
              <a:rPr lang="en-US" sz="1200" b="1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</a:t>
            </a:r>
            <a:r>
              <a:rPr lang="en-US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focuses on time series data analysis, forecasting model selection and evaluation.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5814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9E262-899B-FCBB-7DA3-6BA81CE8E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46493"/>
              </p:ext>
            </p:extLst>
          </p:nvPr>
        </p:nvGraphicFramePr>
        <p:xfrm>
          <a:off x="2341245" y="311793"/>
          <a:ext cx="6802755" cy="82556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26440">
                  <a:extLst>
                    <a:ext uri="{9D8B030D-6E8A-4147-A177-3AD203B41FA5}">
                      <a16:colId xmlns:a16="http://schemas.microsoft.com/office/drawing/2014/main" val="400980224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315728172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4632346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155670963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84908105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20488464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242324819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413543338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effectLst/>
                        </a:rPr>
                        <a:t>OT</a:t>
                      </a:r>
                      <a:endParaRPr lang="en-US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245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Days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Oil Temperature</a:t>
                      </a:r>
                      <a:endParaRPr lang="en-US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5048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AE32E0B-EA7B-823E-3E9B-5829A4F9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3" y="1156398"/>
            <a:ext cx="3918857" cy="24195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BCC43-D4E5-ABB4-630D-B71D7D56E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56398"/>
            <a:ext cx="3418709" cy="211075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AE6D4-0721-9946-8CF3-B67DE6354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78586"/>
            <a:ext cx="3418709" cy="1964914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A7A8A8-467F-FFBB-3040-F3A6F295A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143" y="3575956"/>
            <a:ext cx="3918857" cy="1360724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381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9E262-899B-FCBB-7DA3-6BA81CE8EABC}"/>
              </a:ext>
            </a:extLst>
          </p:cNvPr>
          <p:cNvGraphicFramePr>
            <a:graphicFrameLocks noGrp="1"/>
          </p:cNvGraphicFramePr>
          <p:nvPr/>
        </p:nvGraphicFramePr>
        <p:xfrm>
          <a:off x="2341245" y="311793"/>
          <a:ext cx="6802755" cy="82556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26440">
                  <a:extLst>
                    <a:ext uri="{9D8B030D-6E8A-4147-A177-3AD203B41FA5}">
                      <a16:colId xmlns:a16="http://schemas.microsoft.com/office/drawing/2014/main" val="400980224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315728172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4632346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155670963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84908105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20488464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242324819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413543338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effectLst/>
                        </a:rPr>
                        <a:t>OT</a:t>
                      </a:r>
                      <a:endParaRPr lang="en-US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245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Days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Oil Temperature</a:t>
                      </a:r>
                      <a:endParaRPr lang="en-US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5048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0FEE294-7493-D16B-B72C-F07C92937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4" y="1326924"/>
            <a:ext cx="2996292" cy="18499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4A6B5-954B-A6E5-87CF-BCBE91069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36" y="1317228"/>
            <a:ext cx="2996294" cy="18499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B07C8A-5B7D-B7F9-F821-FC0A0D4E3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230" y="1326924"/>
            <a:ext cx="2996292" cy="1849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A2670-08A3-63E2-FA35-D87B29E63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3" y="3246308"/>
            <a:ext cx="2996293" cy="1849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BBE902-D37D-2366-096B-483FDB78F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2" y="3251350"/>
            <a:ext cx="2988128" cy="18449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116ADE-145F-9DAC-825D-221F41CD5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395" y="3246307"/>
            <a:ext cx="2979961" cy="18398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7F70F4-692A-AED8-7E06-B4220A965C24}"/>
              </a:ext>
            </a:extLst>
          </p:cNvPr>
          <p:cNvSpPr txBox="1"/>
          <p:nvPr/>
        </p:nvSpPr>
        <p:spPr>
          <a:xfrm>
            <a:off x="800100" y="1559379"/>
            <a:ext cx="625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61C0D-BBC9-FFD3-D55C-89AB6A348F57}"/>
              </a:ext>
            </a:extLst>
          </p:cNvPr>
          <p:cNvSpPr txBox="1"/>
          <p:nvPr/>
        </p:nvSpPr>
        <p:spPr>
          <a:xfrm>
            <a:off x="3327507" y="1489171"/>
            <a:ext cx="630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LUFL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93A8E3-FA4F-7095-55B4-73EFEF3FD35F}"/>
              </a:ext>
            </a:extLst>
          </p:cNvPr>
          <p:cNvSpPr txBox="1"/>
          <p:nvPr/>
        </p:nvSpPr>
        <p:spPr>
          <a:xfrm>
            <a:off x="6639048" y="1489171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CEC35-1CF3-F555-F5DF-D6C780DFE8CE}"/>
              </a:ext>
            </a:extLst>
          </p:cNvPr>
          <p:cNvSpPr txBox="1"/>
          <p:nvPr/>
        </p:nvSpPr>
        <p:spPr>
          <a:xfrm>
            <a:off x="756313" y="3477796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MUFL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023844-0296-C36A-17F0-E398F88A9D06}"/>
              </a:ext>
            </a:extLst>
          </p:cNvPr>
          <p:cNvSpPr txBox="1"/>
          <p:nvPr/>
        </p:nvSpPr>
        <p:spPr>
          <a:xfrm>
            <a:off x="3439764" y="3477796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48F64-ECB5-7978-4CAF-8B2D84F06333}"/>
              </a:ext>
            </a:extLst>
          </p:cNvPr>
          <p:cNvSpPr txBox="1"/>
          <p:nvPr/>
        </p:nvSpPr>
        <p:spPr>
          <a:xfrm>
            <a:off x="6493724" y="3477796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HUFL</a:t>
            </a:r>
          </a:p>
        </p:txBody>
      </p:sp>
    </p:spTree>
    <p:extLst>
      <p:ext uri="{BB962C8B-B14F-4D97-AF65-F5344CB8AC3E}">
        <p14:creationId xmlns:p14="http://schemas.microsoft.com/office/powerpoint/2010/main" val="1762159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883F20-5A47-9EA2-A0A0-7ADB269D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31" y="1286396"/>
            <a:ext cx="2903384" cy="18069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FA2A4E-5BFF-EA8F-5A3D-53E92AD4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244" y="1286397"/>
            <a:ext cx="2960291" cy="18277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EE62A6F-B167-17FE-B18D-049137F3A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080" y="1268694"/>
            <a:ext cx="2960288" cy="1827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423152-EC9B-F17F-FF87-A5A7A9738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32" y="3096418"/>
            <a:ext cx="2960290" cy="1827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96A42D-C0F1-FE6B-D5A2-63ADF8572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8018" y="3099479"/>
            <a:ext cx="2960290" cy="1827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23AC6-B10F-1324-7D74-A99880A38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8308" y="3099479"/>
            <a:ext cx="2960289" cy="182772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0244" y="4416595"/>
            <a:ext cx="57316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9E262-899B-FCBB-7DA3-6BA81CE8EABC}"/>
              </a:ext>
            </a:extLst>
          </p:cNvPr>
          <p:cNvGraphicFramePr>
            <a:graphicFrameLocks noGrp="1"/>
          </p:cNvGraphicFramePr>
          <p:nvPr/>
        </p:nvGraphicFramePr>
        <p:xfrm>
          <a:off x="2341245" y="311793"/>
          <a:ext cx="6802755" cy="825564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26440">
                  <a:extLst>
                    <a:ext uri="{9D8B030D-6E8A-4147-A177-3AD203B41FA5}">
                      <a16:colId xmlns:a16="http://schemas.microsoft.com/office/drawing/2014/main" val="4009802249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3157281729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4632346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155670963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849081058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20488464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1242324819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413543338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LUFL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LULL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effectLst/>
                        </a:rPr>
                        <a:t>OT</a:t>
                      </a:r>
                      <a:endParaRPr lang="en-US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212453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Days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High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Middle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Useful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Low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Useless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Load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effectLst/>
                        </a:rPr>
                        <a:t>Oil Temperature</a:t>
                      </a:r>
                      <a:endParaRPr lang="en-US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50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67F70F4-692A-AED8-7E06-B4220A965C24}"/>
              </a:ext>
            </a:extLst>
          </p:cNvPr>
          <p:cNvSpPr txBox="1"/>
          <p:nvPr/>
        </p:nvSpPr>
        <p:spPr>
          <a:xfrm>
            <a:off x="800100" y="1559379"/>
            <a:ext cx="625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61C0D-BBC9-FFD3-D55C-89AB6A348F57}"/>
              </a:ext>
            </a:extLst>
          </p:cNvPr>
          <p:cNvSpPr txBox="1"/>
          <p:nvPr/>
        </p:nvSpPr>
        <p:spPr>
          <a:xfrm>
            <a:off x="3327507" y="1489171"/>
            <a:ext cx="630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LUFL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93A8E3-FA4F-7095-55B4-73EFEF3FD35F}"/>
              </a:ext>
            </a:extLst>
          </p:cNvPr>
          <p:cNvSpPr txBox="1"/>
          <p:nvPr/>
        </p:nvSpPr>
        <p:spPr>
          <a:xfrm>
            <a:off x="6639048" y="1489171"/>
            <a:ext cx="691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CEC35-1CF3-F555-F5DF-D6C780DFE8CE}"/>
              </a:ext>
            </a:extLst>
          </p:cNvPr>
          <p:cNvSpPr txBox="1"/>
          <p:nvPr/>
        </p:nvSpPr>
        <p:spPr>
          <a:xfrm>
            <a:off x="1091048" y="3481934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MUFL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023844-0296-C36A-17F0-E398F88A9D06}"/>
              </a:ext>
            </a:extLst>
          </p:cNvPr>
          <p:cNvSpPr txBox="1"/>
          <p:nvPr/>
        </p:nvSpPr>
        <p:spPr>
          <a:xfrm>
            <a:off x="3774499" y="3481934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48F64-ECB5-7978-4CAF-8B2D84F06333}"/>
              </a:ext>
            </a:extLst>
          </p:cNvPr>
          <p:cNvSpPr txBox="1"/>
          <p:nvPr/>
        </p:nvSpPr>
        <p:spPr>
          <a:xfrm>
            <a:off x="6828459" y="3481934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</a:rPr>
              <a:t>HUFL</a:t>
            </a:r>
          </a:p>
        </p:txBody>
      </p:sp>
    </p:spTree>
    <p:extLst>
      <p:ext uri="{BB962C8B-B14F-4D97-AF65-F5344CB8AC3E}">
        <p14:creationId xmlns:p14="http://schemas.microsoft.com/office/powerpoint/2010/main" val="389459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EA799F-29D3-FE3B-C838-1F48F4296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5431"/>
            <a:ext cx="4327070" cy="31269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757168-ECB3-50FB-7DA3-C58877DA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2352"/>
            <a:ext cx="4327071" cy="192114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31836E-8D06-559E-D22F-345D0D45A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221" y="1094014"/>
            <a:ext cx="4669971" cy="288330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926390-F446-6643-7082-EF0BC9A46084}"/>
              </a:ext>
            </a:extLst>
          </p:cNvPr>
          <p:cNvSpPr txBox="1"/>
          <p:nvPr/>
        </p:nvSpPr>
        <p:spPr>
          <a:xfrm>
            <a:off x="7335250" y="318699"/>
            <a:ext cx="1673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polynomial regression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4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EB473E-620F-5FFA-012A-1B7FC8D7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6" y="677109"/>
            <a:ext cx="3609976" cy="22288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973491-FCC4-0A1D-66CF-FE092E386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6" y="2905960"/>
            <a:ext cx="3609976" cy="224538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9F438-AD37-FDD2-46CC-A1FA6DB51267}"/>
              </a:ext>
            </a:extLst>
          </p:cNvPr>
          <p:cNvSpPr txBox="1"/>
          <p:nvPr/>
        </p:nvSpPr>
        <p:spPr>
          <a:xfrm>
            <a:off x="896116" y="427231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Check Residual IID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9B67896-5B40-C751-1A3E-53D36CBF78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3C323-CE13-3EFD-1A34-FCB707536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47" y="765785"/>
            <a:ext cx="3539217" cy="218516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F3BAC-E77F-F22B-3477-3694A056CDC0}"/>
              </a:ext>
            </a:extLst>
          </p:cNvPr>
          <p:cNvSpPr txBox="1"/>
          <p:nvPr/>
        </p:nvSpPr>
        <p:spPr>
          <a:xfrm>
            <a:off x="5293945" y="507305"/>
            <a:ext cx="2484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Check Residual Normality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D349B-BAAD-4059-6F2B-3469F4068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847" y="2943066"/>
            <a:ext cx="3539217" cy="222885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6A2D3B-23D1-1C45-69C3-8FA6DE0BF331}"/>
              </a:ext>
            </a:extLst>
          </p:cNvPr>
          <p:cNvSpPr txBox="1"/>
          <p:nvPr/>
        </p:nvSpPr>
        <p:spPr>
          <a:xfrm>
            <a:off x="2344590" y="354641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Not IID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901E4-9C74-6F5D-8A08-9F8CFECB4D86}"/>
              </a:ext>
            </a:extLst>
          </p:cNvPr>
          <p:cNvSpPr txBox="1"/>
          <p:nvPr/>
        </p:nvSpPr>
        <p:spPr>
          <a:xfrm>
            <a:off x="7345244" y="336174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80381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Linear Regression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E6AD0-246C-3F87-0772-B42571183285}"/>
              </a:ext>
            </a:extLst>
          </p:cNvPr>
          <p:cNvSpPr txBox="1"/>
          <p:nvPr/>
        </p:nvSpPr>
        <p:spPr>
          <a:xfrm>
            <a:off x="173265" y="1566573"/>
            <a:ext cx="7835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fit.model3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(hufl+</a:t>
            </a:r>
            <a:r>
              <a:rPr lang="en-US" sz="1200" b="1" dirty="0">
                <a:latin typeface="Aptos" panose="020B0004020202020204" pitchFamily="34" charset="0"/>
              </a:rPr>
              <a:t>hufl2</a:t>
            </a:r>
            <a:r>
              <a:rPr lang="en-US" sz="1200" dirty="0">
                <a:latin typeface="Aptos" panose="020B0004020202020204" pitchFamily="34" charset="0"/>
              </a:rPr>
              <a:t>) + (hull+</a:t>
            </a:r>
            <a:r>
              <a:rPr lang="en-US" sz="1200" b="1" dirty="0">
                <a:latin typeface="Aptos" panose="020B0004020202020204" pitchFamily="34" charset="0"/>
              </a:rPr>
              <a:t>hull2</a:t>
            </a:r>
            <a:r>
              <a:rPr lang="en-US" sz="1200" dirty="0">
                <a:latin typeface="Aptos" panose="020B0004020202020204" pitchFamily="34" charset="0"/>
              </a:rPr>
              <a:t>) + (mufl+</a:t>
            </a:r>
            <a:r>
              <a:rPr lang="en-US" sz="1200" b="1" dirty="0">
                <a:latin typeface="Aptos" panose="020B0004020202020204" pitchFamily="34" charset="0"/>
              </a:rPr>
              <a:t>mufl2</a:t>
            </a:r>
            <a:r>
              <a:rPr lang="en-US" sz="1200" dirty="0">
                <a:latin typeface="Aptos" panose="020B0004020202020204" pitchFamily="34" charset="0"/>
              </a:rPr>
              <a:t>) + (mull+</a:t>
            </a:r>
            <a:r>
              <a:rPr lang="en-US" sz="1200" b="1" dirty="0">
                <a:latin typeface="Aptos" panose="020B0004020202020204" pitchFamily="34" charset="0"/>
              </a:rPr>
              <a:t>mull2</a:t>
            </a:r>
            <a:r>
              <a:rPr lang="en-US" sz="1200" dirty="0">
                <a:latin typeface="Aptos" panose="020B0004020202020204" pitchFamily="34" charset="0"/>
              </a:rPr>
              <a:t>) + (lufl+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(lull+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CA45B-CA27-360C-799B-94507E127B4B}"/>
              </a:ext>
            </a:extLst>
          </p:cNvPr>
          <p:cNvSpPr txBox="1"/>
          <p:nvPr/>
        </p:nvSpPr>
        <p:spPr>
          <a:xfrm>
            <a:off x="173265" y="1264406"/>
            <a:ext cx="6168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fit.model2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</a:t>
            </a:r>
            <a:r>
              <a:rPr lang="en-US" sz="1200" dirty="0" err="1">
                <a:latin typeface="Aptos" panose="020B0004020202020204" pitchFamily="34" charset="0"/>
              </a:rPr>
              <a:t>hufl</a:t>
            </a:r>
            <a:r>
              <a:rPr lang="en-US" sz="1200" dirty="0">
                <a:latin typeface="Aptos" panose="020B0004020202020204" pitchFamily="34" charset="0"/>
              </a:rPr>
              <a:t> + hull + </a:t>
            </a:r>
            <a:r>
              <a:rPr lang="en-US" sz="1200" dirty="0" err="1">
                <a:latin typeface="Aptos" panose="020B0004020202020204" pitchFamily="34" charset="0"/>
              </a:rPr>
              <a:t>mufl</a:t>
            </a:r>
            <a:r>
              <a:rPr lang="en-US" sz="1200" dirty="0">
                <a:latin typeface="Aptos" panose="020B0004020202020204" pitchFamily="34" charset="0"/>
              </a:rPr>
              <a:t> + mull + (</a:t>
            </a:r>
            <a:r>
              <a:rPr lang="en-US" sz="1200" dirty="0" err="1">
                <a:latin typeface="Aptos" panose="020B0004020202020204" pitchFamily="34" charset="0"/>
              </a:rPr>
              <a:t>lufl</a:t>
            </a:r>
            <a:r>
              <a:rPr lang="en-US" sz="1200" dirty="0">
                <a:latin typeface="Aptos" panose="020B0004020202020204" pitchFamily="34" charset="0"/>
              </a:rPr>
              <a:t> +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(lull +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D0CAF-7212-F8BC-97A7-B8D741B76060}"/>
              </a:ext>
            </a:extLst>
          </p:cNvPr>
          <p:cNvSpPr txBox="1"/>
          <p:nvPr/>
        </p:nvSpPr>
        <p:spPr>
          <a:xfrm>
            <a:off x="173265" y="987407"/>
            <a:ext cx="5817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fit.model1 &lt;- </a:t>
            </a:r>
            <a:r>
              <a:rPr lang="en-US" sz="1200" dirty="0" err="1">
                <a:latin typeface="Aptos" panose="020B0004020202020204" pitchFamily="34" charset="0"/>
              </a:rPr>
              <a:t>lm</a:t>
            </a:r>
            <a:r>
              <a:rPr lang="en-US" sz="1200" dirty="0">
                <a:latin typeface="Aptos" panose="020B0004020202020204" pitchFamily="34" charset="0"/>
              </a:rPr>
              <a:t>(OT ~ trend + </a:t>
            </a:r>
            <a:r>
              <a:rPr lang="en-US" sz="1200" dirty="0" err="1">
                <a:latin typeface="Aptos" panose="020B0004020202020204" pitchFamily="34" charset="0"/>
              </a:rPr>
              <a:t>hufl</a:t>
            </a:r>
            <a:r>
              <a:rPr lang="en-US" sz="1200" dirty="0">
                <a:latin typeface="Aptos" panose="020B0004020202020204" pitchFamily="34" charset="0"/>
              </a:rPr>
              <a:t> + hull + </a:t>
            </a:r>
            <a:r>
              <a:rPr lang="en-US" sz="1200" dirty="0" err="1">
                <a:latin typeface="Aptos" panose="020B0004020202020204" pitchFamily="34" charset="0"/>
              </a:rPr>
              <a:t>mufl</a:t>
            </a:r>
            <a:r>
              <a:rPr lang="en-US" sz="1200" dirty="0">
                <a:latin typeface="Aptos" panose="020B0004020202020204" pitchFamily="34" charset="0"/>
              </a:rPr>
              <a:t> + mull + (</a:t>
            </a:r>
            <a:r>
              <a:rPr lang="en-US" sz="1200" b="1" dirty="0">
                <a:latin typeface="Aptos" panose="020B0004020202020204" pitchFamily="34" charset="0"/>
              </a:rPr>
              <a:t>lufl2</a:t>
            </a:r>
            <a:r>
              <a:rPr lang="en-US" sz="1200" dirty="0">
                <a:latin typeface="Aptos" panose="020B0004020202020204" pitchFamily="34" charset="0"/>
              </a:rPr>
              <a:t>) + (</a:t>
            </a:r>
            <a:r>
              <a:rPr lang="en-US" sz="1200" b="1" dirty="0">
                <a:latin typeface="Aptos" panose="020B0004020202020204" pitchFamily="34" charset="0"/>
              </a:rPr>
              <a:t>lull2</a:t>
            </a:r>
            <a:r>
              <a:rPr lang="en-US" sz="1200" dirty="0">
                <a:latin typeface="Aptos" panose="020B0004020202020204" pitchFamily="34" charset="0"/>
              </a:rPr>
              <a:t>))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D338D21-CD02-344A-176D-8C856A211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923624"/>
              </p:ext>
            </p:extLst>
          </p:nvPr>
        </p:nvGraphicFramePr>
        <p:xfrm>
          <a:off x="245853" y="2058521"/>
          <a:ext cx="6096000" cy="14833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08060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208646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774087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27564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ptos" panose="020B0004020202020204" pitchFamily="34" charset="0"/>
                        </a:rPr>
                        <a:t>AICc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Model_1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24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ptos" panose="020B0004020202020204" pitchFamily="34" charset="0"/>
                        </a:rPr>
                        <a:t>Model_2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31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Model_3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4.3463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4.2269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141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173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ARIMA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8AB6F-E88B-6349-3598-16C0A6D1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3742"/>
            <a:ext cx="6294664" cy="2987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/>
              <p:nvPr/>
            </p:nvSpPr>
            <p:spPr>
              <a:xfrm>
                <a:off x="6351814" y="1117732"/>
                <a:ext cx="2584138" cy="215443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Steps in ARIMA modeling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Step1: differencing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Step2: check ACF/ PACF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Step3: Fit AR(p)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Step4: Fit MA(q)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Step5: Fit ARIMA(p, d, q)</a:t>
                </a:r>
              </a:p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Step6: What If Fit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directly?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814" y="1117732"/>
                <a:ext cx="2584138" cy="2154436"/>
              </a:xfrm>
              <a:prstGeom prst="rect">
                <a:avLst/>
              </a:prstGeom>
              <a:blipFill>
                <a:blip r:embed="rId4"/>
                <a:stretch>
                  <a:fillRect b="-843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EB9FFF1-4516-9099-92BC-DF9D156A6E61}"/>
              </a:ext>
            </a:extLst>
          </p:cNvPr>
          <p:cNvSpPr txBox="1"/>
          <p:nvPr/>
        </p:nvSpPr>
        <p:spPr>
          <a:xfrm>
            <a:off x="65314" y="3135086"/>
            <a:ext cx="2792187" cy="375557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06F07-11BA-1349-642F-E7E0CF8A0A05}"/>
              </a:ext>
            </a:extLst>
          </p:cNvPr>
          <p:cNvSpPr txBox="1"/>
          <p:nvPr/>
        </p:nvSpPr>
        <p:spPr>
          <a:xfrm>
            <a:off x="6482443" y="318699"/>
            <a:ext cx="25264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Time series of Oil Temperature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992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Models: ARIMA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/>
              <p:nvPr/>
            </p:nvSpPr>
            <p:spPr>
              <a:xfrm>
                <a:off x="5267793" y="491011"/>
                <a:ext cx="2584138" cy="276999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200" dirty="0">
                    <a:latin typeface="Aptos" panose="020B0004020202020204" pitchFamily="34" charset="0"/>
                  </a:rPr>
                  <a:t>differencing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200" dirty="0">
                    <a:latin typeface="Aptos" panose="020B00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3505DF-5F7D-E50D-823B-6FD4F12B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793" y="491011"/>
                <a:ext cx="2584138" cy="276999"/>
              </a:xfrm>
              <a:prstGeom prst="rect">
                <a:avLst/>
              </a:prstGeom>
              <a:blipFill>
                <a:blip r:embed="rId2"/>
                <a:stretch>
                  <a:fillRect b="-14894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FB7E8C-0D81-E73E-9D89-7F6B1967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346" y="835571"/>
            <a:ext cx="4140654" cy="25564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7464A-7CCA-85F1-30EB-48A6083DF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53162"/>
            <a:ext cx="4041321" cy="2495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25942-BBC2-7D7D-99CF-688C9E909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48331"/>
            <a:ext cx="4041321" cy="2495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F0DB-4054-CCD2-CAB8-8ECF657AE2E5}"/>
              </a:ext>
            </a:extLst>
          </p:cNvPr>
          <p:cNvSpPr txBox="1"/>
          <p:nvPr/>
        </p:nvSpPr>
        <p:spPr>
          <a:xfrm>
            <a:off x="1845129" y="4034961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AR(p = 8)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C87024-CB77-64B5-8BDF-4C83888BE5F1}"/>
              </a:ext>
            </a:extLst>
          </p:cNvPr>
          <p:cNvSpPr txBox="1"/>
          <p:nvPr/>
        </p:nvSpPr>
        <p:spPr>
          <a:xfrm>
            <a:off x="1845129" y="913482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MA(q = 2)</a:t>
            </a:r>
          </a:p>
        </p:txBody>
      </p:sp>
    </p:spTree>
    <p:extLst>
      <p:ext uri="{BB962C8B-B14F-4D97-AF65-F5344CB8AC3E}">
        <p14:creationId xmlns:p14="http://schemas.microsoft.com/office/powerpoint/2010/main" val="120786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3362B-E3F2-CA43-42B5-E04C5313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9E46E-F407-DC18-DB45-B41CBD14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772"/>
            <a:ext cx="5124363" cy="163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DCD8D-3AAB-2ADA-7020-912E7C0BD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439" y="0"/>
            <a:ext cx="4055559" cy="2503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8307D1-2129-6298-18E4-A7FEA29E2682}"/>
              </a:ext>
            </a:extLst>
          </p:cNvPr>
          <p:cNvSpPr txBox="1"/>
          <p:nvPr/>
        </p:nvSpPr>
        <p:spPr>
          <a:xfrm>
            <a:off x="0" y="62143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AR(p = 8)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6303BD-D3D0-8806-B41C-4FEA2E410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40" y="2901037"/>
            <a:ext cx="2891518" cy="17852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668123-398C-9D70-7924-9A67B9A0F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45878"/>
            <a:ext cx="2503401" cy="16794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9F1FA-67CC-A8D5-AF47-E89C2017E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311" y="3611620"/>
            <a:ext cx="2514712" cy="1545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5F5AD4-1E86-92DB-8A9E-742F83997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3926" y="1945878"/>
            <a:ext cx="2654791" cy="16391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8B63EC-DC08-C2AF-8204-307D704338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7062" y="3522024"/>
            <a:ext cx="2648517" cy="16352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105623-56EF-9D57-CAA7-3B91192B990C}"/>
              </a:ext>
            </a:extLst>
          </p:cNvPr>
          <p:cNvSpPr txBox="1"/>
          <p:nvPr/>
        </p:nvSpPr>
        <p:spPr>
          <a:xfrm>
            <a:off x="1246045" y="-208"/>
            <a:ext cx="458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model.fit1 &lt;- </a:t>
            </a:r>
            <a:r>
              <a:rPr lang="en-US" dirty="0" err="1">
                <a:latin typeface="Aptos" panose="020B0004020202020204" pitchFamily="34" charset="0"/>
              </a:rPr>
              <a:t>arima</a:t>
            </a:r>
            <a:r>
              <a:rPr lang="en-US" dirty="0">
                <a:latin typeface="Aptos" panose="020B0004020202020204" pitchFamily="34" charset="0"/>
              </a:rPr>
              <a:t>(pred, order=c(8, 0, 0))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243A5F-362E-3AC1-94C9-684B940E33A9}"/>
              </a:ext>
            </a:extLst>
          </p:cNvPr>
          <p:cNvSpPr txBox="1"/>
          <p:nvPr/>
        </p:nvSpPr>
        <p:spPr>
          <a:xfrm>
            <a:off x="1755321" y="257175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F8C9F8-352E-8A75-70B3-04051E488B38}"/>
              </a:ext>
            </a:extLst>
          </p:cNvPr>
          <p:cNvSpPr txBox="1"/>
          <p:nvPr/>
        </p:nvSpPr>
        <p:spPr>
          <a:xfrm>
            <a:off x="4046865" y="2756416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539963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85157-F676-650F-F737-801C6D85A4D2}"/>
              </a:ext>
            </a:extLst>
          </p:cNvPr>
          <p:cNvSpPr txBox="1"/>
          <p:nvPr/>
        </p:nvSpPr>
        <p:spPr>
          <a:xfrm>
            <a:off x="146958" y="34903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MA(q = 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B58AC-0518-9757-730A-3C583960D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" y="247757"/>
            <a:ext cx="5381311" cy="1389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BA643-0999-2753-6B9D-5057FA08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987" y="2466676"/>
            <a:ext cx="3151499" cy="19457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ADB321-3380-CA34-C067-4A4C3D51F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" y="3246608"/>
            <a:ext cx="3070818" cy="1895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50BFA6-7588-4B07-EB0F-229F2D507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" y="1701822"/>
            <a:ext cx="3070818" cy="19789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4EFC57-2899-AC0B-F290-B33FA5DBD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218" y="1843841"/>
            <a:ext cx="2672487" cy="16500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C6D03-DB46-CCEA-5EDD-959FDD582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872" y="3493873"/>
            <a:ext cx="2671833" cy="16496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214F90-D04C-A7D3-B8AC-3ECABAC606D2}"/>
              </a:ext>
            </a:extLst>
          </p:cNvPr>
          <p:cNvSpPr txBox="1"/>
          <p:nvPr/>
        </p:nvSpPr>
        <p:spPr>
          <a:xfrm>
            <a:off x="1716541" y="1518"/>
            <a:ext cx="4576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model.fit2 &lt;- </a:t>
            </a:r>
            <a:r>
              <a:rPr lang="en-US" dirty="0" err="1">
                <a:latin typeface="Aptos" panose="020B0004020202020204" pitchFamily="34" charset="0"/>
              </a:rPr>
              <a:t>arima</a:t>
            </a:r>
            <a:r>
              <a:rPr lang="en-US" dirty="0">
                <a:latin typeface="Aptos" panose="020B0004020202020204" pitchFamily="34" charset="0"/>
              </a:rPr>
              <a:t>(Y, order=c(0, 0, 2))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F205-4BFE-C879-F5C4-8D9E55323A20}"/>
              </a:ext>
            </a:extLst>
          </p:cNvPr>
          <p:cNvSpPr txBox="1"/>
          <p:nvPr/>
        </p:nvSpPr>
        <p:spPr>
          <a:xfrm>
            <a:off x="2049235" y="233936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Not IID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9D014-030D-BD0E-15BD-68D6B38B16E6}"/>
              </a:ext>
            </a:extLst>
          </p:cNvPr>
          <p:cNvSpPr txBox="1"/>
          <p:nvPr/>
        </p:nvSpPr>
        <p:spPr>
          <a:xfrm>
            <a:off x="4572000" y="2691308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3920418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85157-F676-650F-F737-801C6D85A4D2}"/>
              </a:ext>
            </a:extLst>
          </p:cNvPr>
          <p:cNvSpPr txBox="1"/>
          <p:nvPr/>
        </p:nvSpPr>
        <p:spPr>
          <a:xfrm>
            <a:off x="73479" y="40471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ARMA(p, q)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20664-3661-E6D5-A0C1-01809B03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4" y="317470"/>
            <a:ext cx="3051833" cy="131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DC1E6-55D2-D216-5F7C-FA50DD7B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393" y="2358120"/>
            <a:ext cx="2981323" cy="1840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01D0F-F78E-6963-4D2E-F6990BE44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2138"/>
            <a:ext cx="3015081" cy="2015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E0BE6-B137-7ECB-16A5-231D41B76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78476"/>
            <a:ext cx="3015081" cy="186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0D063-8A71-4FA5-BF44-8C0BC0516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5081" y="1732302"/>
            <a:ext cx="2750312" cy="1698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476787-F92B-F01C-6057-37B0B8FC4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5081" y="3441948"/>
            <a:ext cx="2750312" cy="16980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78C883-D6D3-1A7F-24FB-26035B026319}"/>
              </a:ext>
            </a:extLst>
          </p:cNvPr>
          <p:cNvSpPr txBox="1"/>
          <p:nvPr/>
        </p:nvSpPr>
        <p:spPr>
          <a:xfrm>
            <a:off x="1507540" y="228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auto &lt;- </a:t>
            </a:r>
            <a:r>
              <a:rPr lang="en-US" dirty="0" err="1">
                <a:latin typeface="Aptos" panose="020B0004020202020204" pitchFamily="34" charset="0"/>
              </a:rPr>
              <a:t>auto.arima</a:t>
            </a:r>
            <a:r>
              <a:rPr lang="en-US" dirty="0">
                <a:latin typeface="Aptos" panose="020B0004020202020204" pitchFamily="34" charset="0"/>
              </a:rPr>
              <a:t>(Y, d=0, </a:t>
            </a:r>
            <a:r>
              <a:rPr lang="en-US" dirty="0" err="1">
                <a:latin typeface="Aptos" panose="020B0004020202020204" pitchFamily="34" charset="0"/>
              </a:rPr>
              <a:t>ic</a:t>
            </a:r>
            <a:r>
              <a:rPr lang="en-US" dirty="0">
                <a:latin typeface="Aptos" panose="020B0004020202020204" pitchFamily="34" charset="0"/>
              </a:rPr>
              <a:t>="</a:t>
            </a:r>
            <a:r>
              <a:rPr lang="en-US" dirty="0" err="1">
                <a:latin typeface="Aptos" panose="020B0004020202020204" pitchFamily="34" charset="0"/>
              </a:rPr>
              <a:t>aicc</a:t>
            </a:r>
            <a:r>
              <a:rPr lang="en-US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AEC556-C38C-99AE-D781-817749FB322E}"/>
              </a:ext>
            </a:extLst>
          </p:cNvPr>
          <p:cNvSpPr txBox="1"/>
          <p:nvPr/>
        </p:nvSpPr>
        <p:spPr>
          <a:xfrm>
            <a:off x="2062141" y="246054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C1807-A21F-4322-24DB-E496A152F7C8}"/>
              </a:ext>
            </a:extLst>
          </p:cNvPr>
          <p:cNvSpPr txBox="1"/>
          <p:nvPr/>
        </p:nvSpPr>
        <p:spPr>
          <a:xfrm>
            <a:off x="4390237" y="246560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4444C-E821-5619-D2BA-02BE845265CC}"/>
              </a:ext>
            </a:extLst>
          </p:cNvPr>
          <p:cNvSpPr txBox="1"/>
          <p:nvPr/>
        </p:nvSpPr>
        <p:spPr>
          <a:xfrm>
            <a:off x="138794" y="335067"/>
            <a:ext cx="1053191" cy="36933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63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85157-F676-650F-F737-801C6D85A4D2}"/>
              </a:ext>
            </a:extLst>
          </p:cNvPr>
          <p:cNvSpPr txBox="1"/>
          <p:nvPr/>
        </p:nvSpPr>
        <p:spPr>
          <a:xfrm>
            <a:off x="73479" y="40471"/>
            <a:ext cx="1355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ptos" panose="020B0004020202020204" pitchFamily="34" charset="0"/>
              </a:rPr>
              <a:t>ARMA(p, q) on </a:t>
            </a:r>
            <a:r>
              <a:rPr lang="en-US" sz="1200" dirty="0" err="1">
                <a:solidFill>
                  <a:srgbClr val="FF0000"/>
                </a:solidFill>
                <a:latin typeface="Aptos" panose="020B0004020202020204" pitchFamily="34" charset="0"/>
              </a:rPr>
              <a:t>Xt</a:t>
            </a:r>
            <a:endParaRPr lang="en-US" sz="1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24775-036F-8630-33F3-74EF1C17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275284"/>
            <a:ext cx="3300084" cy="1457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13EC76-D45A-3FFF-0CE0-62B8BF799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963" y="2216085"/>
            <a:ext cx="3332389" cy="2057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D1F37-82B8-779A-247E-448575B3F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5096"/>
            <a:ext cx="2851792" cy="18347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CF0E4B-1146-FF20-A4F3-50D1D770E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86287"/>
            <a:ext cx="2846083" cy="17572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725DD-2C63-70B8-85D9-A18DD35D2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8338" y="1845096"/>
            <a:ext cx="2686625" cy="16689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1D22D1-F2DE-85AD-C39A-3319C4408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1792" y="3514050"/>
            <a:ext cx="2653171" cy="1638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BF85B1-B007-8A36-CB06-ADE63440BE71}"/>
              </a:ext>
            </a:extLst>
          </p:cNvPr>
          <p:cNvSpPr txBox="1"/>
          <p:nvPr/>
        </p:nvSpPr>
        <p:spPr>
          <a:xfrm>
            <a:off x="1502229" y="223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OT.fit1 &lt;- </a:t>
            </a:r>
            <a:r>
              <a:rPr lang="en-US" dirty="0" err="1">
                <a:latin typeface="Aptos" panose="020B0004020202020204" pitchFamily="34" charset="0"/>
              </a:rPr>
              <a:t>auto.arima</a:t>
            </a:r>
            <a:r>
              <a:rPr lang="en-US" dirty="0">
                <a:latin typeface="Aptos" panose="020B0004020202020204" pitchFamily="34" charset="0"/>
              </a:rPr>
              <a:t>(OT, trace=T, </a:t>
            </a:r>
            <a:r>
              <a:rPr lang="en-US" dirty="0" err="1">
                <a:latin typeface="Aptos" panose="020B0004020202020204" pitchFamily="34" charset="0"/>
              </a:rPr>
              <a:t>ic</a:t>
            </a:r>
            <a:r>
              <a:rPr lang="en-US" dirty="0">
                <a:latin typeface="Aptos" panose="020B0004020202020204" pitchFamily="34" charset="0"/>
              </a:rPr>
              <a:t>="</a:t>
            </a:r>
            <a:r>
              <a:rPr lang="en-US" dirty="0" err="1">
                <a:latin typeface="Aptos" panose="020B0004020202020204" pitchFamily="34" charset="0"/>
              </a:rPr>
              <a:t>aicc</a:t>
            </a:r>
            <a:r>
              <a:rPr lang="en-US" dirty="0">
                <a:latin typeface="Aptos" panose="020B0004020202020204" pitchFamily="34" charset="0"/>
              </a:rPr>
              <a:t>")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1FD4B1-F637-0800-D09B-2FA6FDFBE61A}"/>
              </a:ext>
            </a:extLst>
          </p:cNvPr>
          <p:cNvSpPr txBox="1"/>
          <p:nvPr/>
        </p:nvSpPr>
        <p:spPr>
          <a:xfrm>
            <a:off x="1758816" y="249490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IID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856E81-B982-B56D-BA98-3D38832B3105}"/>
              </a:ext>
            </a:extLst>
          </p:cNvPr>
          <p:cNvSpPr txBox="1"/>
          <p:nvPr/>
        </p:nvSpPr>
        <p:spPr>
          <a:xfrm>
            <a:off x="4106167" y="2593130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0AAEB-DD70-B7F5-098B-E0B25DFF8257}"/>
              </a:ext>
            </a:extLst>
          </p:cNvPr>
          <p:cNvSpPr txBox="1"/>
          <p:nvPr/>
        </p:nvSpPr>
        <p:spPr>
          <a:xfrm>
            <a:off x="138794" y="319070"/>
            <a:ext cx="1053191" cy="36933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42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9A0-AA66-9FA9-CDA6-FCD1EE8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191EE3-78F7-515B-EE58-F67E01B64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01127"/>
              </p:ext>
            </p:extLst>
          </p:nvPr>
        </p:nvGraphicFramePr>
        <p:xfrm>
          <a:off x="154652" y="2304511"/>
          <a:ext cx="609600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08060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208646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774087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27564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ptos" panose="020B0004020202020204" pitchFamily="34" charset="0"/>
                        </a:rPr>
                        <a:t>AICc</a:t>
                      </a:r>
                      <a:endParaRPr lang="en-US" sz="12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AR(p = 8) on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Yt</a:t>
                      </a:r>
                      <a:endParaRPr lang="en-US" sz="1200" dirty="0">
                        <a:solidFill>
                          <a:srgbClr val="FF0000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2.5026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24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MA(q = 2) on </a:t>
                      </a:r>
                      <a:r>
                        <a:rPr lang="en-US" sz="1200" dirty="0" err="1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Yt</a:t>
                      </a:r>
                      <a:endParaRPr lang="en-US" sz="1200" dirty="0">
                        <a:solidFill>
                          <a:srgbClr val="FF0000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2.5108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2.4952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31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ARIMA(2,0,2) on </a:t>
                      </a:r>
                      <a:r>
                        <a:rPr lang="en-US" sz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Yt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14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ARIMA(2,1,2) on </a:t>
                      </a:r>
                      <a:r>
                        <a:rPr lang="en-US" sz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tos" panose="020B0004020202020204" pitchFamily="34" charset="0"/>
                        </a:rPr>
                        <a:t>Xt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2.4421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2321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2FDE44-E7AA-E3BD-E24F-ABD4F586EFBE}"/>
              </a:ext>
            </a:extLst>
          </p:cNvPr>
          <p:cNvSpPr txBox="1"/>
          <p:nvPr/>
        </p:nvSpPr>
        <p:spPr>
          <a:xfrm>
            <a:off x="0" y="83174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auto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(Y, d=0,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2056C-C769-5CCC-4E14-B98C84C27EB8}"/>
              </a:ext>
            </a:extLst>
          </p:cNvPr>
          <p:cNvSpPr txBox="1"/>
          <p:nvPr/>
        </p:nvSpPr>
        <p:spPr>
          <a:xfrm>
            <a:off x="0" y="112265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auto2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(Y,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", trace=T)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59C18-C420-4126-E673-7055F37B8939}"/>
              </a:ext>
            </a:extLst>
          </p:cNvPr>
          <p:cNvSpPr txBox="1"/>
          <p:nvPr/>
        </p:nvSpPr>
        <p:spPr>
          <a:xfrm>
            <a:off x="0" y="226554"/>
            <a:ext cx="4584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model.fit1 &lt;- </a:t>
            </a:r>
            <a:r>
              <a:rPr lang="en-US" sz="1200" dirty="0" err="1">
                <a:latin typeface="Aptos" panose="020B0004020202020204" pitchFamily="34" charset="0"/>
              </a:rPr>
              <a:t>arima</a:t>
            </a:r>
            <a:r>
              <a:rPr lang="en-US" sz="1200" dirty="0">
                <a:latin typeface="Aptos" panose="020B0004020202020204" pitchFamily="34" charset="0"/>
              </a:rPr>
              <a:t>(pred, order=c(8, 0, 0))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CBE0A-D3D7-D9D4-F2B0-8A3F03A8AC4C}"/>
              </a:ext>
            </a:extLst>
          </p:cNvPr>
          <p:cNvSpPr txBox="1"/>
          <p:nvPr/>
        </p:nvSpPr>
        <p:spPr>
          <a:xfrm>
            <a:off x="8164" y="504620"/>
            <a:ext cx="457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model.fit2 &lt;- </a:t>
            </a:r>
            <a:r>
              <a:rPr lang="en-US" sz="1200" dirty="0" err="1">
                <a:latin typeface="Aptos" panose="020B0004020202020204" pitchFamily="34" charset="0"/>
              </a:rPr>
              <a:t>arima</a:t>
            </a:r>
            <a:r>
              <a:rPr lang="en-US" sz="1200" dirty="0">
                <a:latin typeface="Aptos" panose="020B0004020202020204" pitchFamily="34" charset="0"/>
              </a:rPr>
              <a:t>(Y, order=c(0, 0, 2))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75F08C-35D3-3870-163A-5B2C78500395}"/>
              </a:ext>
            </a:extLst>
          </p:cNvPr>
          <p:cNvSpPr txBox="1"/>
          <p:nvPr/>
        </p:nvSpPr>
        <p:spPr>
          <a:xfrm>
            <a:off x="12246" y="14900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OT.fit1 &lt;- </a:t>
            </a:r>
            <a:r>
              <a:rPr lang="en-US" sz="1200" dirty="0" err="1">
                <a:latin typeface="Aptos" panose="020B0004020202020204" pitchFamily="34" charset="0"/>
              </a:rPr>
              <a:t>auto.arima</a:t>
            </a:r>
            <a:r>
              <a:rPr lang="en-US" sz="1200" dirty="0">
                <a:latin typeface="Aptos" panose="020B0004020202020204" pitchFamily="34" charset="0"/>
              </a:rPr>
              <a:t>(OT, trace=T, </a:t>
            </a:r>
            <a:r>
              <a:rPr lang="en-US" sz="1200" dirty="0" err="1">
                <a:latin typeface="Aptos" panose="020B0004020202020204" pitchFamily="34" charset="0"/>
              </a:rPr>
              <a:t>ic</a:t>
            </a:r>
            <a:r>
              <a:rPr lang="en-US" sz="1200" dirty="0">
                <a:latin typeface="Aptos" panose="020B0004020202020204" pitchFamily="34" charset="0"/>
              </a:rPr>
              <a:t>="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r>
              <a:rPr lang="en-US" sz="1200" dirty="0">
                <a:latin typeface="Aptos" panose="020B0004020202020204" pitchFamily="34" charset="0"/>
              </a:rPr>
              <a:t>")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EA019-9100-C260-7F00-92EBE12AE7C2}"/>
              </a:ext>
            </a:extLst>
          </p:cNvPr>
          <p:cNvSpPr txBox="1"/>
          <p:nvPr/>
        </p:nvSpPr>
        <p:spPr>
          <a:xfrm>
            <a:off x="3803080" y="218463"/>
            <a:ext cx="43690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num &lt;- length(OT)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AIC</a:t>
            </a:r>
          </a:p>
          <a:p>
            <a:r>
              <a:rPr lang="en-US" sz="1200" dirty="0">
                <a:latin typeface="Aptos" panose="020B0004020202020204" pitchFamily="34" charset="0"/>
              </a:rPr>
              <a:t>AIC(OT.fit1)/num - log(2*pi)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BIC</a:t>
            </a:r>
          </a:p>
          <a:p>
            <a:r>
              <a:rPr lang="en-US" sz="1200" dirty="0">
                <a:latin typeface="Aptos" panose="020B0004020202020204" pitchFamily="34" charset="0"/>
              </a:rPr>
              <a:t>AIC(OT.fit1, k=log(num))/num - log(2*pi)</a:t>
            </a:r>
          </a:p>
          <a:p>
            <a:r>
              <a:rPr lang="en-US" sz="1200" dirty="0">
                <a:latin typeface="Aptos" panose="020B0004020202020204" pitchFamily="34" charset="0"/>
              </a:rPr>
              <a:t># </a:t>
            </a:r>
            <a:r>
              <a:rPr lang="en-US" sz="1200" dirty="0" err="1">
                <a:latin typeface="Aptos" panose="020B0004020202020204" pitchFamily="34" charset="0"/>
              </a:rPr>
              <a:t>AICc</a:t>
            </a:r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1200" dirty="0">
                <a:latin typeface="Aptos" panose="020B0004020202020204" pitchFamily="34" charset="0"/>
              </a:rPr>
              <a:t>log(sum(resid(OT.fit1)^2)/num) + (num +5)/(num -5 -2)</a:t>
            </a:r>
          </a:p>
        </p:txBody>
      </p:sp>
    </p:spTree>
    <p:extLst>
      <p:ext uri="{BB962C8B-B14F-4D97-AF65-F5344CB8AC3E}">
        <p14:creationId xmlns:p14="http://schemas.microsoft.com/office/powerpoint/2010/main" val="3681058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6B7F53-16E3-33D5-39E7-5837A2C7647C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ptos" panose="020B0004020202020204" pitchFamily="34" charset="0"/>
                <a:cs typeface="Times New Roman" panose="02020603050405020304" pitchFamily="18" charset="0"/>
              </a:rPr>
              <a:t>Conclusion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879FD-5873-5462-5BED-6FE17D59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EB00B-507C-3E26-A6AE-FEC74C37A20B}"/>
              </a:ext>
            </a:extLst>
          </p:cNvPr>
          <p:cNvSpPr txBox="1"/>
          <p:nvPr/>
        </p:nvSpPr>
        <p:spPr>
          <a:xfrm>
            <a:off x="511850" y="987698"/>
            <a:ext cx="594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ptos" panose="020B0004020202020204" pitchFamily="34" charset="0"/>
              </a:rPr>
              <a:t>Linear Regression Models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</a:p>
          <a:p>
            <a:r>
              <a:rPr lang="en-US" sz="1200" dirty="0">
                <a:latin typeface="Aptos" panose="020B0004020202020204" pitchFamily="34" charset="0"/>
              </a:rPr>
              <a:t>Residual Assumption of IID is not satisfied, so linear regression may not a good choice.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0569-69E6-0DA6-936F-6C28D265A40F}"/>
              </a:ext>
            </a:extLst>
          </p:cNvPr>
          <p:cNvSpPr txBox="1"/>
          <p:nvPr/>
        </p:nvSpPr>
        <p:spPr>
          <a:xfrm>
            <a:off x="511850" y="1719794"/>
            <a:ext cx="2376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ptos" panose="020B0004020202020204" pitchFamily="34" charset="0"/>
              </a:rPr>
              <a:t>ARIMA</a:t>
            </a:r>
          </a:p>
          <a:p>
            <a:r>
              <a:rPr lang="en-US" sz="1200" dirty="0">
                <a:latin typeface="Aptos" panose="020B0004020202020204" pitchFamily="34" charset="0"/>
              </a:rPr>
              <a:t>ARIMA(2, 0, 2) is the best choice. </a:t>
            </a:r>
          </a:p>
          <a:p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C5F42-D112-3DE7-DB89-9D8A0FE9401C}"/>
              </a:ext>
            </a:extLst>
          </p:cNvPr>
          <p:cNvSpPr txBox="1"/>
          <p:nvPr/>
        </p:nvSpPr>
        <p:spPr>
          <a:xfrm>
            <a:off x="469526" y="2552232"/>
            <a:ext cx="38064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ptos" panose="020B0004020202020204" pitchFamily="34" charset="0"/>
              </a:rPr>
              <a:t>More details will be covered in final report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Causality, invertibility,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ARFIMA  (long memory process)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Check whether ARCH, GARCH model are applicable</a:t>
            </a:r>
          </a:p>
          <a:p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67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1D809B-32C2-4C52-0706-9866F6DE8422}"/>
              </a:ext>
            </a:extLst>
          </p:cNvPr>
          <p:cNvSpPr txBox="1"/>
          <p:nvPr/>
        </p:nvSpPr>
        <p:spPr>
          <a:xfrm>
            <a:off x="2185404" y="1925419"/>
            <a:ext cx="4501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Q &amp; 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BA7556-E5B2-862E-DDF1-D0E3341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14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1959</TotalTime>
  <Words>1294</Words>
  <Application>Microsoft Office PowerPoint</Application>
  <PresentationFormat>On-screen Show (16:9)</PresentationFormat>
  <Paragraphs>295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Times New Roman</vt:lpstr>
      <vt:lpstr>Tw Cen MT</vt:lpstr>
      <vt:lpstr>Droplet</vt:lpstr>
      <vt:lpstr>Analysis of Time Series Models  for Electricity Consumption Forecasting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Outlier Study and Linear Regression Diagnosis for Stock Price Anomaly Detections</dc:title>
  <dc:creator>Qianqian Yao, Bryce Fike</dc:creator>
  <cp:keywords/>
  <cp:lastModifiedBy>Andreea Q.Y</cp:lastModifiedBy>
  <cp:revision>229</cp:revision>
  <dcterms:created xsi:type="dcterms:W3CDTF">2023-11-13T22:37:33Z</dcterms:created>
  <dcterms:modified xsi:type="dcterms:W3CDTF">2024-05-02T05:49:36Z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2023-11-13</vt:lpwstr>
  </property>
  <property fmtid="{D5CDD505-2E9C-101B-9397-08002B2CF9AE}" pid="3" name="output">
    <vt:lpwstr>powerpoint_presentation</vt:lpwstr>
  </property>
</Properties>
</file>
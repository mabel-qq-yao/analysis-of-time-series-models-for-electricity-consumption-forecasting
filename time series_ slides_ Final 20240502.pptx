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3"/>
  </p:notesMasterIdLst>
  <p:handoutMasterIdLst>
    <p:handoutMasterId r:id="rId24"/>
  </p:handoutMasterIdLst>
  <p:sldIdLst>
    <p:sldId id="256" r:id="rId2"/>
    <p:sldId id="309" r:id="rId3"/>
    <p:sldId id="258" r:id="rId4"/>
    <p:sldId id="332" r:id="rId5"/>
    <p:sldId id="334" r:id="rId6"/>
    <p:sldId id="335" r:id="rId7"/>
    <p:sldId id="331" r:id="rId8"/>
    <p:sldId id="264" r:id="rId9"/>
    <p:sldId id="336" r:id="rId10"/>
    <p:sldId id="275" r:id="rId11"/>
    <p:sldId id="339" r:id="rId12"/>
    <p:sldId id="338" r:id="rId13"/>
    <p:sldId id="340" r:id="rId14"/>
    <p:sldId id="341" r:id="rId15"/>
    <p:sldId id="342" r:id="rId16"/>
    <p:sldId id="344" r:id="rId17"/>
    <p:sldId id="345" r:id="rId18"/>
    <p:sldId id="347" r:id="rId19"/>
    <p:sldId id="346" r:id="rId20"/>
    <p:sldId id="330" r:id="rId21"/>
    <p:sldId id="261" r:id="rId2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81829" autoAdjust="0"/>
  </p:normalViewPr>
  <p:slideViewPr>
    <p:cSldViewPr snapToGrid="0" snapToObjects="1">
      <p:cViewPr varScale="1">
        <p:scale>
          <a:sx n="108" d="100"/>
          <a:sy n="108" d="100"/>
        </p:scale>
        <p:origin x="1324" y="89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2C1FA10-337E-DBC5-271C-BEF536E5C73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D5AF37-235E-D4EE-B019-DFF3BC2CC53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807DAB-516A-408A-810A-1A144F69A6EB}" type="datetimeFigureOut">
              <a:rPr lang="en-US" smtClean="0"/>
              <a:t>5/2/2024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1C4B98-A08A-67DC-51A7-3714DF37C4C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24D89A-243F-CC5D-1B99-95122974AF7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674091-FDCC-4C02-9571-77C52E33B3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80500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70CD46-B71C-47CD-A2A9-C0A4B8F53AFE}" type="datetimeFigureOut">
              <a:rPr lang="en-US" smtClean="0"/>
              <a:t>5/2/2024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BF7609-D07C-4B3B-B120-4133EB1B54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38687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My project is titled as …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BF7609-D07C-4B3B-B120-4133EB1B54C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6291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During this project,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BF7609-D07C-4B3B-B120-4133EB1B54C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6437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is outliers? </a:t>
            </a:r>
          </a:p>
          <a:p>
            <a:endParaRPr lang="en-US" dirty="0"/>
          </a:p>
          <a:p>
            <a:r>
              <a:rPr lang="en-US" dirty="0"/>
              <a:t>Outliers and anomalies can be used interchangeably.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BF7609-D07C-4B3B-B120-4133EB1B54C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0740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BF7609-D07C-4B3B-B120-4133EB1B54C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5267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After the data is obtained, the first step is to check stationary, </a:t>
            </a:r>
          </a:p>
          <a:p>
            <a:r>
              <a:rPr lang="en-US" dirty="0"/>
              <a:t>Stationary is …to make sure the data has constant mean values and covariances is independent from time. </a:t>
            </a:r>
          </a:p>
          <a:p>
            <a:endParaRPr lang="en-US" dirty="0"/>
          </a:p>
          <a:p>
            <a:r>
              <a:rPr lang="en-US" dirty="0"/>
              <a:t>The method to check stationary ..</a:t>
            </a:r>
          </a:p>
          <a:p>
            <a:endParaRPr lang="en-US" dirty="0"/>
          </a:p>
          <a:p>
            <a:r>
              <a:rPr lang="en-US" dirty="0"/>
              <a:t>Then we can plot ACF and PACF, which are two methods to check data </a:t>
            </a:r>
            <a:r>
              <a:rPr lang="en-US" dirty="0" err="1"/>
              <a:t>correlationships</a:t>
            </a:r>
            <a:r>
              <a:rPr lang="en-US" dirty="0"/>
              <a:t>.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BF7609-D07C-4B3B-B120-4133EB1B54C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4542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By the characteristics of ACF and PACF, we can choose a model for it.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BF7609-D07C-4B3B-B120-4133EB1B54C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4637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dirty="0">
                <a:solidFill>
                  <a:schemeClr val="accent6">
                    <a:lumMod val="75000"/>
                  </a:schemeClr>
                </a:solidFill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to predict the electrical transformers’ oil temperature because the oil temperature can reflect the electricity transformer. So that we can predict electric power consumption precisely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BF7609-D07C-4B3B-B120-4133EB1B54C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3459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dataset contains total 7 variables: </a:t>
            </a:r>
          </a:p>
          <a:p>
            <a:endParaRPr lang="en-US" dirty="0"/>
          </a:p>
          <a:p>
            <a:r>
              <a:rPr lang="en-US" dirty="0"/>
              <a:t>Tested stationary of oil temperature, </a:t>
            </a:r>
          </a:p>
          <a:p>
            <a:r>
              <a:rPr lang="en-US" dirty="0"/>
              <a:t>Checked ACF PACF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BF7609-D07C-4B3B-B120-4133EB1B54C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562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BF7609-D07C-4B3B-B120-4133EB1B54C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1831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First, polynomial regression model at degree 2 are tried.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BF7609-D07C-4B3B-B120-4133EB1B54C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1816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Then </a:t>
            </a:r>
            <a:r>
              <a:rPr lang="en-US" dirty="0" err="1"/>
              <a:t>arima</a:t>
            </a:r>
            <a:r>
              <a:rPr lang="en-US" dirty="0"/>
              <a:t> model is tried to model time series of oil temperature. </a:t>
            </a:r>
          </a:p>
          <a:p>
            <a:r>
              <a:rPr lang="en-US" dirty="0"/>
              <a:t>There is a classical decomposition model: </a:t>
            </a:r>
          </a:p>
          <a:p>
            <a:endParaRPr lang="en-US" dirty="0"/>
          </a:p>
          <a:p>
            <a:r>
              <a:rPr lang="en-US" dirty="0"/>
              <a:t>The very first step is to process data to remove trend and seasonality 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BF7609-D07C-4B3B-B120-4133EB1B54C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6168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After differencing on </a:t>
            </a:r>
            <a:r>
              <a:rPr lang="en-US" dirty="0" err="1"/>
              <a:t>xt</a:t>
            </a:r>
            <a:r>
              <a:rPr lang="en-US" dirty="0"/>
              <a:t>, we can see how </a:t>
            </a:r>
            <a:r>
              <a:rPr lang="en-US" dirty="0" err="1"/>
              <a:t>yt</a:t>
            </a:r>
            <a:r>
              <a:rPr lang="en-US" dirty="0"/>
              <a:t> and </a:t>
            </a:r>
            <a:r>
              <a:rPr lang="en-US" dirty="0" err="1"/>
              <a:t>xt</a:t>
            </a:r>
            <a:r>
              <a:rPr lang="en-US" dirty="0"/>
              <a:t> look like by comparison. </a:t>
            </a:r>
          </a:p>
          <a:p>
            <a:r>
              <a:rPr lang="en-US" dirty="0" err="1"/>
              <a:t>Yt</a:t>
            </a:r>
            <a:r>
              <a:rPr lang="en-US" dirty="0"/>
              <a:t> is basically a white noise. </a:t>
            </a:r>
          </a:p>
          <a:p>
            <a:endParaRPr lang="en-US" dirty="0"/>
          </a:p>
          <a:p>
            <a:r>
              <a:rPr lang="en-US" dirty="0"/>
              <a:t>Then </a:t>
            </a:r>
            <a:r>
              <a:rPr lang="en-US" dirty="0" err="1"/>
              <a:t>acf</a:t>
            </a:r>
            <a:r>
              <a:rPr lang="en-US" dirty="0"/>
              <a:t> and </a:t>
            </a:r>
            <a:r>
              <a:rPr lang="en-US" dirty="0" err="1"/>
              <a:t>pacf</a:t>
            </a:r>
            <a:r>
              <a:rPr lang="en-US" dirty="0"/>
              <a:t> are </a:t>
            </a:r>
            <a:r>
              <a:rPr lang="en-US" dirty="0" err="1"/>
              <a:t>ploted</a:t>
            </a:r>
            <a:r>
              <a:rPr lang="en-US" dirty="0"/>
              <a:t> for </a:t>
            </a:r>
            <a:r>
              <a:rPr lang="en-US" dirty="0" err="1"/>
              <a:t>yt</a:t>
            </a:r>
            <a:r>
              <a:rPr lang="en-US" dirty="0"/>
              <a:t>. Both of them have cut off characteristics, </a:t>
            </a:r>
          </a:p>
          <a:p>
            <a:r>
              <a:rPr lang="en-US" dirty="0" err="1"/>
              <a:t>Acf</a:t>
            </a:r>
            <a:r>
              <a:rPr lang="en-US" dirty="0"/>
              <a:t> cut off at lag 2, </a:t>
            </a:r>
            <a:r>
              <a:rPr lang="en-US" dirty="0" err="1"/>
              <a:t>pacf</a:t>
            </a:r>
            <a:r>
              <a:rPr lang="en-US" dirty="0"/>
              <a:t> cut off at lag 8. </a:t>
            </a:r>
          </a:p>
          <a:p>
            <a:r>
              <a:rPr lang="en-US" dirty="0"/>
              <a:t>Then we can try the following different </a:t>
            </a:r>
            <a:r>
              <a:rPr lang="en-US" dirty="0" err="1"/>
              <a:t>arima</a:t>
            </a:r>
            <a:r>
              <a:rPr lang="en-US" dirty="0"/>
              <a:t> models.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BF7609-D07C-4B3B-B120-4133EB1B54C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89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first is </a:t>
            </a:r>
            <a:r>
              <a:rPr lang="en-US" dirty="0" err="1"/>
              <a:t>ar</a:t>
            </a:r>
            <a:r>
              <a:rPr lang="en-US" dirty="0"/>
              <a:t> at lag 8. </a:t>
            </a:r>
          </a:p>
          <a:p>
            <a:r>
              <a:rPr lang="en-US" dirty="0"/>
              <a:t>Fit the data, predict, then check residual assumptions.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BF7609-D07C-4B3B-B120-4133EB1B54C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787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process as ma at lag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BF7609-D07C-4B3B-B120-4133EB1B54C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70270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process for </a:t>
            </a:r>
            <a:r>
              <a:rPr lang="en-US" dirty="0" err="1"/>
              <a:t>arima</a:t>
            </a:r>
            <a:r>
              <a:rPr lang="en-US" dirty="0"/>
              <a:t>, by </a:t>
            </a:r>
            <a:r>
              <a:rPr lang="en-US" dirty="0" err="1"/>
              <a:t>auto.arima</a:t>
            </a:r>
            <a:r>
              <a:rPr lang="en-US" dirty="0"/>
              <a:t>() function in R, the algorithm can find the best </a:t>
            </a:r>
            <a:r>
              <a:rPr lang="en-US" dirty="0" err="1"/>
              <a:t>choise</a:t>
            </a:r>
            <a:r>
              <a:rPr lang="en-US" dirty="0"/>
              <a:t> of p, d, q,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BF7609-D07C-4B3B-B120-4133EB1B54C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0617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3259" y="975589"/>
            <a:ext cx="6517482" cy="1881910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3259" y="2914651"/>
            <a:ext cx="6517482" cy="1028699"/>
          </a:xfrm>
        </p:spPr>
        <p:txBody>
          <a:bodyPr>
            <a:normAutofit/>
          </a:bodyPr>
          <a:lstStyle>
            <a:lvl1pPr marL="0" indent="0" algn="ctr">
              <a:buNone/>
              <a:defRPr sz="1650">
                <a:solidFill>
                  <a:schemeClr val="bg1">
                    <a:lumMod val="50000"/>
                  </a:schemeClr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FB0C8-E691-491F-B8C6-C3FE1EC42805}" type="datetime1">
              <a:rPr lang="en-US" smtClean="0"/>
              <a:t>5/2/2024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9966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1775320"/>
            <a:ext cx="7772870" cy="2568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713A1-0258-4964-A0B4-EBBE184DDA84}" type="datetime1">
              <a:rPr lang="en-US" smtClean="0"/>
              <a:t>5/2/2024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7546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21423"/>
            <a:ext cx="7763814" cy="2052614"/>
          </a:xfrm>
        </p:spPr>
        <p:txBody>
          <a:bodyPr anchor="b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2743093"/>
            <a:ext cx="7763814" cy="1026137"/>
          </a:xfrm>
        </p:spPr>
        <p:txBody>
          <a:bodyPr>
            <a:normAutofit/>
          </a:bodyPr>
          <a:lstStyle>
            <a:lvl1pPr marL="0" indent="0" algn="ctr">
              <a:buNone/>
              <a:defRPr sz="1500">
                <a:solidFill>
                  <a:schemeClr val="bg1">
                    <a:lumMod val="50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8B381-2519-4DEB-A598-A656D6BCD88F}" type="datetime1">
              <a:rPr lang="en-US" smtClean="0"/>
              <a:t>5/2/2024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1798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463888"/>
            <a:ext cx="7773338" cy="119713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1775320"/>
            <a:ext cx="3829520" cy="2568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4629150" y="1775320"/>
            <a:ext cx="3829050" cy="2568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D8261-9BF3-4EDA-AF6D-3167081A6B76}" type="datetime1">
              <a:rPr lang="en-US" smtClean="0"/>
              <a:t>5/2/2024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884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463888"/>
            <a:ext cx="7773338" cy="119713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9746" y="1778263"/>
            <a:ext cx="3655106" cy="509996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195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331" y="2288260"/>
            <a:ext cx="3829520" cy="20551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97317" y="1778263"/>
            <a:ext cx="3661353" cy="509996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195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4629150" y="2288260"/>
            <a:ext cx="3829051" cy="20551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7D4A5-99CB-46A5-827A-E1D16F0649E7}" type="datetime1">
              <a:rPr lang="en-US" smtClean="0"/>
              <a:t>5/2/2024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7421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0E53B-D34A-4DA6-8C75-B1B0004CE095}" type="datetime1">
              <a:rPr lang="en-US" smtClean="0"/>
              <a:t>5/2/2024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9660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725A7-1876-4F7E-98F2-14255E45778D}" type="datetime1">
              <a:rPr lang="en-US" smtClean="0"/>
              <a:t>5/2/2024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8657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457200"/>
            <a:ext cx="2951766" cy="1517439"/>
          </a:xfrm>
        </p:spPr>
        <p:txBody>
          <a:bodyPr anchor="b"/>
          <a:lstStyle>
            <a:lvl1pPr algn="ctr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3808547" y="457201"/>
            <a:ext cx="4650122" cy="38861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1974639"/>
            <a:ext cx="2951767" cy="2368761"/>
          </a:xfrm>
        </p:spPr>
        <p:txBody>
          <a:bodyPr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3061D-E89D-47F8-873D-FCE6944BC023}" type="datetime1">
              <a:rPr lang="en-US" smtClean="0"/>
              <a:t>5/2/2024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7472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457200"/>
            <a:ext cx="4451227" cy="1517441"/>
          </a:xfrm>
        </p:spPr>
        <p:txBody>
          <a:bodyPr anchor="b"/>
          <a:lstStyle>
            <a:lvl1pPr algn="ctr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68602" y="457201"/>
            <a:ext cx="2441519" cy="38862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1974639"/>
            <a:ext cx="4451212" cy="2368760"/>
          </a:xfrm>
        </p:spPr>
        <p:txBody>
          <a:bodyPr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E8511-355C-4AE7-B79A-0656C7D28653}" type="datetime1">
              <a:rPr lang="en-US" smtClean="0"/>
              <a:t>5/2/2024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94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3217030"/>
            <a:ext cx="7773324" cy="608708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88558" y="523696"/>
            <a:ext cx="7366899" cy="2410602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3831546"/>
            <a:ext cx="7773339" cy="511854"/>
          </a:xfrm>
        </p:spPr>
        <p:txBody>
          <a:bodyPr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23E74-DB35-4EBC-A800-B36000883292}" type="datetime1">
              <a:rPr lang="en-US" smtClean="0"/>
              <a:t>5/2/2024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250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457200"/>
            <a:ext cx="7773339" cy="2570434"/>
          </a:xfrm>
        </p:spPr>
        <p:txBody>
          <a:bodyPr anchor="ctr"/>
          <a:lstStyle>
            <a:lvl1pPr algn="ctr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3153616"/>
            <a:ext cx="7773339" cy="1189785"/>
          </a:xfrm>
        </p:spPr>
        <p:txBody>
          <a:bodyPr anchor="ctr"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CE115-85BD-4914-89D4-1C0904AAE95F}" type="datetime1">
              <a:rPr lang="en-US" smtClean="0"/>
              <a:t>5/2/2024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9001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457200"/>
            <a:ext cx="6977064" cy="2244678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2707524"/>
            <a:ext cx="6564224" cy="446091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3279597"/>
            <a:ext cx="7773339" cy="106579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8F950-412F-4F4E-B561-6498FB6D9E1C}" type="datetime1">
              <a:rPr lang="en-US" smtClean="0"/>
              <a:t>5/2/2024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751116" y="565625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18169" y="22451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482934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1604041"/>
            <a:ext cx="7773339" cy="1883876"/>
          </a:xfrm>
        </p:spPr>
        <p:txBody>
          <a:bodyPr anchor="b"/>
          <a:lstStyle>
            <a:lvl1pPr algn="ctr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3496751"/>
            <a:ext cx="7773339" cy="855483"/>
          </a:xfrm>
        </p:spPr>
        <p:txBody>
          <a:bodyPr anchor="t"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5816A-C71B-4AE6-A8A0-86C9A20813F1}" type="datetime1">
              <a:rPr lang="en-US" smtClean="0"/>
              <a:t>5/2/2024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92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31" y="457200"/>
            <a:ext cx="7773339" cy="12038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31" y="1775320"/>
            <a:ext cx="2474232" cy="432197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31" y="2207517"/>
            <a:ext cx="2474232" cy="2135884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9292" y="1775320"/>
            <a:ext cx="2468641" cy="432197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12" y="2207517"/>
            <a:ext cx="2477513" cy="2135884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1775320"/>
            <a:ext cx="2478696" cy="432197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9974" y="2207517"/>
            <a:ext cx="2478696" cy="2135884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41C7B-4B55-4678-B66E-B51EBA9C65BF}" type="datetime1">
              <a:rPr lang="en-US" smtClean="0"/>
              <a:t>5/2/2024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1625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31" y="458079"/>
            <a:ext cx="7773339" cy="120294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31" y="3153615"/>
            <a:ext cx="2472307" cy="432197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165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331" y="1775320"/>
            <a:ext cx="2472307" cy="1143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31" y="3585811"/>
            <a:ext cx="2472307" cy="757589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69" y="3153615"/>
            <a:ext cx="2476371" cy="432197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165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31011" y="1775320"/>
            <a:ext cx="2477514" cy="1143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3585811"/>
            <a:ext cx="2477514" cy="757589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3153615"/>
            <a:ext cx="2475511" cy="432197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165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79974" y="1775320"/>
            <a:ext cx="2478696" cy="1143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880" y="3585809"/>
            <a:ext cx="2478790" cy="757591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02ED3-656E-4D87-B347-EE8D98069F98}" type="datetime1">
              <a:rPr lang="en-US" smtClean="0"/>
              <a:t>5/2/2024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9247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1775320"/>
            <a:ext cx="7773339" cy="25680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FD48F-A46B-4909-9A7F-FF3D5730A457}" type="datetime1">
              <a:rPr lang="en-US" smtClean="0"/>
              <a:t>5/2/2024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9583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57201"/>
            <a:ext cx="1914995" cy="38861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457201"/>
            <a:ext cx="5744043" cy="38861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7D21A-EAD3-42BA-A026-8602B966F1A3}" type="datetime1">
              <a:rPr lang="en-US" smtClean="0"/>
              <a:t>5/2/2024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2244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B2A52-8AF9-4779-AC0C-61302D7380F3}" type="datetime1">
              <a:rPr lang="en-US" smtClean="0"/>
              <a:t>5/2/2024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5372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5143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32" y="463888"/>
            <a:ext cx="7773338" cy="1197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1775320"/>
            <a:ext cx="7773339" cy="2568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3" y="4412457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fld id="{857921F3-97F8-471F-AFF2-5F66A2734598}" type="datetime1">
              <a:rPr lang="en-US" smtClean="0"/>
              <a:t>5/2/2024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31" y="4412457"/>
            <a:ext cx="500466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4412457"/>
            <a:ext cx="573161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903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hf hdr="0" ftr="0" dt="0"/>
  <p:txStyles>
    <p:titleStyle>
      <a:lvl1pPr algn="ctr" defTabSz="685800" rtl="0" eaLnBrk="1" latinLnBrk="0" hangingPunct="1">
        <a:lnSpc>
          <a:spcPct val="90000"/>
        </a:lnSpc>
        <a:spcBef>
          <a:spcPct val="0"/>
        </a:spcBef>
        <a:buNone/>
        <a:defRPr sz="27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Clr>
          <a:schemeClr val="tx1"/>
        </a:buClr>
        <a:buFont typeface="Arial" panose="020B0604020202020204" pitchFamily="34" charset="0"/>
        <a:buChar char="•"/>
        <a:defRPr sz="15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tx1"/>
        </a:buClr>
        <a:buFont typeface="Arial" panose="020B0604020202020204" pitchFamily="34" charset="0"/>
        <a:buChar char="•"/>
        <a:defRPr sz="135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tx1"/>
        </a:buClr>
        <a:buFont typeface="Arial" panose="020B0604020202020204" pitchFamily="34" charset="0"/>
        <a:buChar char="•"/>
        <a:defRPr sz="12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tx1"/>
        </a:buClr>
        <a:buFont typeface="Arial" panose="020B0604020202020204" pitchFamily="34" charset="0"/>
        <a:buChar char="•"/>
        <a:defRPr sz="105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tx1"/>
        </a:buClr>
        <a:buFont typeface="Arial" panose="020B0604020202020204" pitchFamily="34" charset="0"/>
        <a:buChar char="•"/>
        <a:defRPr sz="105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tx1"/>
        </a:buClr>
        <a:buFont typeface="Arial" panose="020B0604020202020204" pitchFamily="34" charset="0"/>
        <a:buChar char="•"/>
        <a:defRPr sz="105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tx1"/>
        </a:buClr>
        <a:buFont typeface="Arial" panose="020B0604020202020204" pitchFamily="34" charset="0"/>
        <a:buChar char="•"/>
        <a:defRPr sz="105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tx1"/>
        </a:buClr>
        <a:buFont typeface="Arial" panose="020B0604020202020204" pitchFamily="34" charset="0"/>
        <a:buChar char="•"/>
        <a:defRPr sz="105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tx1"/>
        </a:buClr>
        <a:buFont typeface="Arial" panose="020B0604020202020204" pitchFamily="34" charset="0"/>
        <a:buChar char="•"/>
        <a:defRPr sz="105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zhouhaoyi/ETDataset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6.png"/><Relationship Id="rId4" Type="http://schemas.openxmlformats.org/officeDocument/2006/relationships/image" Target="../media/image3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5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Relationship Id="rId9" Type="http://schemas.openxmlformats.org/officeDocument/2006/relationships/image" Target="../media/image4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Relationship Id="rId9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A9ACB382-7DB9-5550-4181-097CC06127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0816" y="1496900"/>
            <a:ext cx="7899955" cy="954604"/>
          </a:xfrm>
        </p:spPr>
        <p:txBody>
          <a:bodyPr>
            <a:norm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chemeClr val="tx2"/>
                </a:solidFill>
                <a:latin typeface="Aptos" panose="020B0004020202020204" pitchFamily="34" charset="0"/>
                <a:ea typeface="+mn-ea"/>
                <a:cs typeface="+mn-cs"/>
              </a:rPr>
              <a:t>Analysis of Time Series Models </a:t>
            </a:r>
            <a:br>
              <a:rPr lang="en-US" sz="2400" dirty="0">
                <a:solidFill>
                  <a:schemeClr val="tx2"/>
                </a:solidFill>
                <a:latin typeface="Aptos" panose="020B0004020202020204" pitchFamily="34" charset="0"/>
                <a:ea typeface="+mn-ea"/>
                <a:cs typeface="+mn-cs"/>
              </a:rPr>
            </a:br>
            <a:r>
              <a:rPr lang="en-US" sz="2400" dirty="0">
                <a:solidFill>
                  <a:schemeClr val="tx2"/>
                </a:solidFill>
                <a:latin typeface="Aptos" panose="020B0004020202020204" pitchFamily="34" charset="0"/>
                <a:ea typeface="+mn-ea"/>
                <a:cs typeface="+mn-cs"/>
              </a:rPr>
              <a:t>for Electricity Consumption Forecasting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AE5C76D3-9473-47B2-73A5-EEDB149444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04281" y="2794058"/>
            <a:ext cx="1333023" cy="374445"/>
          </a:xfrm>
        </p:spPr>
        <p:txBody>
          <a:bodyPr>
            <a:normAutofit/>
          </a:bodyPr>
          <a:lstStyle/>
          <a:p>
            <a:pPr algn="l"/>
            <a:r>
              <a:rPr lang="en-US" sz="1200" dirty="0">
                <a:solidFill>
                  <a:schemeClr val="tx2"/>
                </a:solidFill>
              </a:rPr>
              <a:t>Qianqian Yao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00314D3-E6D6-8DAF-A1D3-6122C13D0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81087" y="1607057"/>
            <a:ext cx="3819827" cy="2385279"/>
          </a:xfrm>
        </p:spPr>
        <p:txBody>
          <a:bodyPr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dirty="0">
                <a:latin typeface="Aptos" panose="020B0004020202020204" pitchFamily="34" charset="0"/>
                <a:cs typeface="Times New Roman" panose="02020603050405020304" pitchFamily="18" charset="0"/>
              </a:rPr>
              <a:t>Background of Time Series Analysis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dirty="0">
                <a:latin typeface="Aptos" panose="020B0004020202020204" pitchFamily="34" charset="0"/>
                <a:cs typeface="Times New Roman" panose="02020603050405020304" pitchFamily="18" charset="0"/>
              </a:rPr>
              <a:t>Project motivation 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dirty="0">
                <a:latin typeface="Aptos" panose="020B0004020202020204" pitchFamily="34" charset="0"/>
                <a:cs typeface="Times New Roman" panose="02020603050405020304" pitchFamily="18" charset="0"/>
              </a:rPr>
              <a:t>Data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dirty="0">
                <a:latin typeface="Aptos" panose="020B0004020202020204" pitchFamily="34" charset="0"/>
                <a:cs typeface="Times New Roman" panose="02020603050405020304" pitchFamily="18" charset="0"/>
              </a:rPr>
              <a:t>Models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dirty="0">
                <a:latin typeface="Aptos" panose="020B0004020202020204" pitchFamily="34" charset="0"/>
                <a:cs typeface="Times New Roman" panose="02020603050405020304" pitchFamily="18" charset="0"/>
              </a:rPr>
              <a:t>Conclusion </a:t>
            </a:r>
          </a:p>
          <a:p>
            <a:pPr lvl="0"/>
            <a:endParaRPr sz="1400" dirty="0">
              <a:latin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BF85502-31D3-ECF5-233E-BA09D2B1C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1087" y="657205"/>
            <a:ext cx="3819827" cy="802204"/>
          </a:xfrm>
        </p:spPr>
        <p:txBody>
          <a:bodyPr>
            <a:normAutofit/>
          </a:bodyPr>
          <a:lstStyle/>
          <a:p>
            <a:pPr marL="0" lvl="0" indent="0" algn="l">
              <a:buNone/>
            </a:pPr>
            <a:r>
              <a:rPr lang="en-US" sz="2400" dirty="0">
                <a:latin typeface="Aptos" panose="020B0004020202020204" pitchFamily="34" charset="0"/>
                <a:cs typeface="Times New Roman" panose="02020603050405020304" pitchFamily="18" charset="0"/>
              </a:rPr>
              <a:t>Contents</a:t>
            </a:r>
            <a:endParaRPr sz="2400" dirty="0">
              <a:latin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F596A1-A743-3871-EB96-97CF8F9DA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9175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2677F45-A819-8E76-76D1-C568C320F491}"/>
              </a:ext>
            </a:extLst>
          </p:cNvPr>
          <p:cNvSpPr txBox="1"/>
          <p:nvPr/>
        </p:nvSpPr>
        <p:spPr>
          <a:xfrm>
            <a:off x="5500914" y="0"/>
            <a:ext cx="3643086" cy="29418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algn="r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2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Background of Time Series Analysis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4B048F8-FB09-9F5D-FCB9-39FE69A7E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5B4280C-F28B-AE09-AFDD-8891BC4E9161}"/>
                  </a:ext>
                </a:extLst>
              </p:cNvPr>
              <p:cNvSpPr txBox="1"/>
              <p:nvPr/>
            </p:nvSpPr>
            <p:spPr>
              <a:xfrm>
                <a:off x="734787" y="791934"/>
                <a:ext cx="733969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1200" dirty="0">
                    <a:latin typeface="Aptos" panose="020B0004020202020204" pitchFamily="34" charset="0"/>
                  </a:rPr>
                  <a:t>A </a:t>
                </a:r>
                <a:r>
                  <a:rPr lang="en-US" sz="1200" b="1" dirty="0">
                    <a:latin typeface="Aptos" panose="020B0004020202020204" pitchFamily="34" charset="0"/>
                  </a:rPr>
                  <a:t>Time Series </a:t>
                </a:r>
                <a:r>
                  <a:rPr lang="en-US" sz="1200" dirty="0">
                    <a:latin typeface="Aptos" panose="020B0004020202020204" pitchFamily="34" charset="0"/>
                  </a:rPr>
                  <a:t>is a collection of observations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200" dirty="0">
                    <a:latin typeface="Aptos" panose="020B0004020202020204" pitchFamily="34" charset="0"/>
                  </a:rPr>
                  <a:t>, each of which is indexed by time t, </a:t>
                </a:r>
                <a:r>
                  <a:rPr lang="en-US" sz="1200" dirty="0" err="1">
                    <a:latin typeface="Aptos" panose="020B0004020202020204" pitchFamily="34" charset="0"/>
                  </a:rPr>
                  <a:t>ie</a:t>
                </a:r>
                <a:r>
                  <a:rPr lang="en-US" sz="1200" dirty="0">
                    <a:latin typeface="Aptos" panose="020B0004020202020204" pitchFamily="34" charset="0"/>
                  </a:rPr>
                  <a:t>., the observation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200" dirty="0">
                    <a:latin typeface="Aptos" panose="020B0004020202020204" pitchFamily="34" charset="0"/>
                  </a:rPr>
                  <a:t> is made at a specific time t. 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5B4280C-F28B-AE09-AFDD-8891BC4E91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787" y="791934"/>
                <a:ext cx="7339692" cy="461665"/>
              </a:xfrm>
              <a:prstGeom prst="rect">
                <a:avLst/>
              </a:prstGeom>
              <a:blipFill>
                <a:blip r:embed="rId3"/>
                <a:stretch>
                  <a:fillRect l="-83" t="-1316"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633BE74-8C9F-2E96-471B-FEE9710E1381}"/>
                  </a:ext>
                </a:extLst>
              </p:cNvPr>
              <p:cNvSpPr txBox="1"/>
              <p:nvPr/>
            </p:nvSpPr>
            <p:spPr>
              <a:xfrm>
                <a:off x="734787" y="1550229"/>
                <a:ext cx="715072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1200" dirty="0">
                    <a:latin typeface="Aptos" panose="020B0004020202020204" pitchFamily="34" charset="0"/>
                  </a:rPr>
                  <a:t>A </a:t>
                </a:r>
                <a:r>
                  <a:rPr lang="en-US" sz="1200" b="1" dirty="0">
                    <a:latin typeface="Aptos" panose="020B0004020202020204" pitchFamily="34" charset="0"/>
                  </a:rPr>
                  <a:t>Time Series Model </a:t>
                </a:r>
                <a:r>
                  <a:rPr lang="en-US" sz="1200" dirty="0">
                    <a:latin typeface="Aptos" panose="020B0004020202020204" pitchFamily="34" charset="0"/>
                  </a:rPr>
                  <a:t>for the observed data 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200" dirty="0">
                    <a:latin typeface="Aptos" panose="020B0004020202020204" pitchFamily="34" charset="0"/>
                  </a:rPr>
                  <a:t>} is a specification of the joint distributions (or possibly only the mean and covariance) of a sequence of random variables 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200" dirty="0">
                    <a:latin typeface="Aptos" panose="020B0004020202020204" pitchFamily="34" charset="0"/>
                  </a:rPr>
                  <a:t>} of which 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200" dirty="0">
                    <a:latin typeface="Aptos" panose="020B0004020202020204" pitchFamily="34" charset="0"/>
                  </a:rPr>
                  <a:t>} is postulated to be a realization. 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633BE74-8C9F-2E96-471B-FEE9710E13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787" y="1550229"/>
                <a:ext cx="7150722" cy="646331"/>
              </a:xfrm>
              <a:prstGeom prst="rect">
                <a:avLst/>
              </a:prstGeom>
              <a:blipFill>
                <a:blip r:embed="rId4"/>
                <a:stretch>
                  <a:fillRect l="-85" b="-66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4432BB1C-EC9E-1901-368F-033D359FDD4F}"/>
              </a:ext>
            </a:extLst>
          </p:cNvPr>
          <p:cNvSpPr txBox="1"/>
          <p:nvPr/>
        </p:nvSpPr>
        <p:spPr>
          <a:xfrm>
            <a:off x="734787" y="2524297"/>
            <a:ext cx="733969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b="1" dirty="0">
                <a:latin typeface="Aptos" panose="020B0004020202020204" pitchFamily="34" charset="0"/>
              </a:rPr>
              <a:t>Objectives of Time Series Analysis</a:t>
            </a:r>
            <a:r>
              <a:rPr lang="en-US" sz="1200" dirty="0">
                <a:latin typeface="Aptos" panose="020B0004020202020204" pitchFamily="34" charset="0"/>
              </a:rPr>
              <a:t>: </a:t>
            </a:r>
            <a:r>
              <a:rPr lang="en-US" sz="1200" b="1" u="sng" dirty="0">
                <a:solidFill>
                  <a:schemeClr val="accent6">
                    <a:lumMod val="75000"/>
                  </a:schemeClr>
                </a:solidFill>
                <a:latin typeface="Aptos" panose="020B0004020202020204" pitchFamily="34" charset="0"/>
              </a:rPr>
              <a:t>Modeling and Forecasting</a:t>
            </a:r>
          </a:p>
          <a:p>
            <a:pPr algn="just"/>
            <a:r>
              <a:rPr lang="en-US" sz="1200" dirty="0">
                <a:latin typeface="Aptos" panose="020B0004020202020204" pitchFamily="34" charset="0"/>
              </a:rPr>
              <a:t>1- set up a probability model to represent data; </a:t>
            </a:r>
          </a:p>
          <a:p>
            <a:pPr algn="just"/>
            <a:r>
              <a:rPr lang="en-US" sz="1200" dirty="0">
                <a:latin typeface="Aptos" panose="020B0004020202020204" pitchFamily="34" charset="0"/>
              </a:rPr>
              <a:t>2- estimate parameters in the model;</a:t>
            </a:r>
          </a:p>
          <a:p>
            <a:pPr algn="just"/>
            <a:r>
              <a:rPr lang="en-US" sz="1200" dirty="0">
                <a:latin typeface="Aptos" panose="020B0004020202020204" pitchFamily="34" charset="0"/>
              </a:rPr>
              <a:t>3- check the goodness of the model fit for the data; </a:t>
            </a:r>
          </a:p>
          <a:p>
            <a:pPr algn="just"/>
            <a:r>
              <a:rPr lang="en-US" sz="1200" dirty="0">
                <a:latin typeface="Aptos" panose="020B0004020202020204" pitchFamily="34" charset="0"/>
              </a:rPr>
              <a:t>4- use the fitted model to enhance our understanding of the mechanism generating the series; </a:t>
            </a:r>
          </a:p>
          <a:p>
            <a:pPr algn="just"/>
            <a:r>
              <a:rPr lang="en-US" sz="1200" dirty="0">
                <a:latin typeface="Aptos" panose="020B0004020202020204" pitchFamily="34" charset="0"/>
              </a:rPr>
              <a:t>5- once the probability model has been established, we may use it to summarize the data or forecast (predict) the future values, etc.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2677F45-A819-8E76-76D1-C568C320F491}"/>
              </a:ext>
            </a:extLst>
          </p:cNvPr>
          <p:cNvSpPr txBox="1"/>
          <p:nvPr/>
        </p:nvSpPr>
        <p:spPr>
          <a:xfrm>
            <a:off x="5500914" y="0"/>
            <a:ext cx="3643086" cy="29418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algn="r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2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Background of Time Series Analysis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4B048F8-FB09-9F5D-FCB9-39FE69A7E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08C574C-8584-D8DE-4B7F-EA5F4D6E30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32992"/>
            <a:ext cx="3943350" cy="240525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E2A4D54-431D-8A7C-36A2-4425A72680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738246"/>
            <a:ext cx="3943350" cy="24346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7B7C859-C174-E7FD-9AD2-368513868F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78367" y="560566"/>
            <a:ext cx="3165634" cy="1954508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710C01F-27FC-B4A3-307D-A4E6B1B8B6F4}"/>
              </a:ext>
            </a:extLst>
          </p:cNvPr>
          <p:cNvSpPr txBox="1"/>
          <p:nvPr/>
        </p:nvSpPr>
        <p:spPr>
          <a:xfrm>
            <a:off x="1249871" y="333261"/>
            <a:ext cx="1590564" cy="27699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ptos" panose="020B0004020202020204" pitchFamily="34" charset="0"/>
              </a:rPr>
              <a:t>Real World Examples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4C6B1AB-F1F0-DB41-5CE8-F36C1BD69FB9}"/>
              </a:ext>
            </a:extLst>
          </p:cNvPr>
          <p:cNvSpPr txBox="1"/>
          <p:nvPr/>
        </p:nvSpPr>
        <p:spPr>
          <a:xfrm>
            <a:off x="1356218" y="560565"/>
            <a:ext cx="12309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ptos" panose="020B0004020202020204" pitchFamily="34" charset="0"/>
              </a:rPr>
              <a:t>Global warming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5738930-FF99-5D15-BDBB-B81A9591458B}"/>
              </a:ext>
            </a:extLst>
          </p:cNvPr>
          <p:cNvSpPr txBox="1"/>
          <p:nvPr/>
        </p:nvSpPr>
        <p:spPr>
          <a:xfrm>
            <a:off x="1105172" y="2917617"/>
            <a:ext cx="20091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ptos" panose="020B0004020202020204" pitchFamily="34" charset="0"/>
              </a:rPr>
              <a:t>New Yorker Stock Exchange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D31B85C-6CCB-C0CF-72B0-8BF941513B0C}"/>
              </a:ext>
            </a:extLst>
          </p:cNvPr>
          <p:cNvSpPr txBox="1"/>
          <p:nvPr/>
        </p:nvSpPr>
        <p:spPr>
          <a:xfrm>
            <a:off x="6277838" y="283835"/>
            <a:ext cx="2014141" cy="27699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ptos" panose="020B0004020202020204" pitchFamily="34" charset="0"/>
              </a:rPr>
              <a:t>Model Generated Examples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CB03902-005D-4927-8888-EB52EC08E2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29103" y="2039369"/>
            <a:ext cx="2981816" cy="1841016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D767046-25D6-A2CD-D671-B46CB4CDB0C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77838" y="3370075"/>
            <a:ext cx="2866162" cy="1769609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6739718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2677F45-A819-8E76-76D1-C568C320F491}"/>
              </a:ext>
            </a:extLst>
          </p:cNvPr>
          <p:cNvSpPr txBox="1"/>
          <p:nvPr/>
        </p:nvSpPr>
        <p:spPr>
          <a:xfrm>
            <a:off x="5500914" y="0"/>
            <a:ext cx="3643086" cy="29418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algn="r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2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Background of Time Series Analysis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4B048F8-FB09-9F5D-FCB9-39FE69A7E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5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25F822-1CA3-23BC-579F-5EC83A1C3CF9}"/>
              </a:ext>
            </a:extLst>
          </p:cNvPr>
          <p:cNvSpPr txBox="1"/>
          <p:nvPr/>
        </p:nvSpPr>
        <p:spPr>
          <a:xfrm>
            <a:off x="47035" y="61548"/>
            <a:ext cx="1247970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Aptos" panose="020B0004020202020204" pitchFamily="34" charset="0"/>
              </a:rPr>
              <a:t>Stationary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EDF6CF3-5510-E8E8-ECCC-11C962231AC5}"/>
                  </a:ext>
                </a:extLst>
              </p:cNvPr>
              <p:cNvSpPr txBox="1"/>
              <p:nvPr/>
            </p:nvSpPr>
            <p:spPr>
              <a:xfrm>
                <a:off x="0" y="460965"/>
                <a:ext cx="4237264" cy="646331"/>
              </a:xfrm>
              <a:prstGeom prst="rect">
                <a:avLst/>
              </a:prstGeom>
              <a:noFill/>
              <a:ln>
                <a:solidFill>
                  <a:schemeClr val="accent6">
                    <a:lumMod val="40000"/>
                    <a:lumOff val="6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Aptos" panose="020B0004020202020204" pitchFamily="34" charset="0"/>
                  </a:rPr>
                  <a:t>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200" dirty="0">
                    <a:latin typeface="Aptos" panose="020B0004020202020204" pitchFamily="34" charset="0"/>
                  </a:rPr>
                  <a:t>} is stationary if </a:t>
                </a:r>
              </a:p>
              <a:p>
                <a:pPr marL="342900" indent="-342900">
                  <a:buAutoNum type="arabicParenR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200" dirty="0">
                    <a:latin typeface="Aptos" panose="020B0004020202020204" pitchFamily="34" charset="0"/>
                  </a:rPr>
                  <a:t>= E(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200" dirty="0">
                    <a:latin typeface="Aptos" panose="020B0004020202020204" pitchFamily="34" charset="0"/>
                  </a:rPr>
                  <a:t>) is independent of t (it is a constant);</a:t>
                </a:r>
              </a:p>
              <a:p>
                <a:pPr marL="342900" indent="-342900">
                  <a:buAutoNum type="arabicParenR"/>
                </a:pPr>
                <a:r>
                  <a:rPr lang="en-US" sz="1200" dirty="0">
                    <a:latin typeface="Cambria Math" panose="02040503050406030204" pitchFamily="18" charset="0"/>
                  </a:rPr>
                  <a:t>Cor(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200" i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200" i="0"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</m:oMath>
                </a14:m>
                <a:r>
                  <a:rPr lang="en-US" sz="1200" dirty="0">
                    <a:latin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200" i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200" i="0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sz="12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sz="1200" i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en-US" sz="1200" dirty="0">
                    <a:latin typeface="Cambria Math" panose="02040503050406030204" pitchFamily="18" charset="0"/>
                  </a:rPr>
                  <a:t>) is a function of h only; 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EDF6CF3-5510-E8E8-ECCC-11C962231A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60965"/>
                <a:ext cx="4237264" cy="646331"/>
              </a:xfrm>
              <a:prstGeom prst="rect">
                <a:avLst/>
              </a:prstGeom>
              <a:blipFill>
                <a:blip r:embed="rId3"/>
                <a:stretch>
                  <a:fillRect b="-5556"/>
                </a:stretch>
              </a:blipFill>
              <a:ln>
                <a:solidFill>
                  <a:schemeClr val="accent6">
                    <a:lumMod val="40000"/>
                    <a:lumOff val="6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EDE0AD3E-3286-C61C-5F0E-36AC24ACBC10}"/>
              </a:ext>
            </a:extLst>
          </p:cNvPr>
          <p:cNvSpPr txBox="1"/>
          <p:nvPr/>
        </p:nvSpPr>
        <p:spPr>
          <a:xfrm>
            <a:off x="0" y="1112567"/>
            <a:ext cx="4237264" cy="646331"/>
          </a:xfrm>
          <a:prstGeom prst="rect">
            <a:avLst/>
          </a:prstGeom>
          <a:noFill/>
          <a:ln>
            <a:solidFill>
              <a:schemeClr val="accent6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ptos" panose="020B0004020202020204" pitchFamily="34" charset="0"/>
              </a:rPr>
              <a:t>This condition makes sure the data are homogeneous, </a:t>
            </a:r>
          </a:p>
          <a:p>
            <a:r>
              <a:rPr lang="en-US" sz="1200" dirty="0">
                <a:latin typeface="Aptos" panose="020B0004020202020204" pitchFamily="34" charset="0"/>
              </a:rPr>
              <a:t>so that the data can be modeled. </a:t>
            </a:r>
          </a:p>
          <a:p>
            <a:r>
              <a:rPr lang="en-US" sz="1200" dirty="0">
                <a:latin typeface="Aptos" panose="020B0004020202020204" pitchFamily="34" charset="0"/>
              </a:rPr>
              <a:t>The ways to check stationary: </a:t>
            </a:r>
            <a:r>
              <a:rPr lang="en-US" sz="1200" i="1" dirty="0">
                <a:latin typeface="Aptos" panose="020B0004020202020204" pitchFamily="34" charset="0"/>
              </a:rPr>
              <a:t>Dickey Fuller</a:t>
            </a:r>
            <a:r>
              <a:rPr lang="en-US" sz="1200" dirty="0">
                <a:latin typeface="Aptos" panose="020B0004020202020204" pitchFamily="34" charset="0"/>
              </a:rPr>
              <a:t>,  </a:t>
            </a:r>
            <a:r>
              <a:rPr lang="en-US" sz="1200" i="1" dirty="0">
                <a:latin typeface="Aptos" panose="020B0004020202020204" pitchFamily="34" charset="0"/>
              </a:rPr>
              <a:t>ACF</a:t>
            </a:r>
            <a:r>
              <a:rPr lang="en-US" sz="1200" dirty="0">
                <a:latin typeface="Aptos" panose="020B0004020202020204" pitchFamily="34" charset="0"/>
              </a:rPr>
              <a:t> &amp; </a:t>
            </a:r>
            <a:r>
              <a:rPr lang="en-US" sz="1200" i="1" dirty="0">
                <a:latin typeface="Aptos" panose="020B0004020202020204" pitchFamily="34" charset="0"/>
              </a:rPr>
              <a:t>PACF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0B69741-E76F-DD61-663D-2B04F1FFF3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6736" y="290812"/>
            <a:ext cx="4237264" cy="261614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67A61D2-8558-5B1E-D4B9-EC8118AD0C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6737" y="2527353"/>
            <a:ext cx="4237264" cy="261614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7409FEF-179C-11D3-C1B8-2FE2EA96F4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742770"/>
            <a:ext cx="4237264" cy="1395629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4355C7B-CE57-296A-4FFE-F6280DC04DF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3138398"/>
            <a:ext cx="3331029" cy="2005101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8B8A874-6803-E243-6CD4-B8B2E2BF706C}"/>
              </a:ext>
            </a:extLst>
          </p:cNvPr>
          <p:cNvSpPr txBox="1"/>
          <p:nvPr/>
        </p:nvSpPr>
        <p:spPr>
          <a:xfrm>
            <a:off x="735935" y="3630102"/>
            <a:ext cx="12309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ptos" panose="020B0004020202020204" pitchFamily="34" charset="0"/>
              </a:rPr>
              <a:t>Global warming</a:t>
            </a:r>
          </a:p>
        </p:txBody>
      </p:sp>
    </p:spTree>
    <p:extLst>
      <p:ext uri="{BB962C8B-B14F-4D97-AF65-F5344CB8AC3E}">
        <p14:creationId xmlns:p14="http://schemas.microsoft.com/office/powerpoint/2010/main" val="25862468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2677F45-A819-8E76-76D1-C568C320F491}"/>
              </a:ext>
            </a:extLst>
          </p:cNvPr>
          <p:cNvSpPr txBox="1"/>
          <p:nvPr/>
        </p:nvSpPr>
        <p:spPr>
          <a:xfrm>
            <a:off x="5500914" y="0"/>
            <a:ext cx="3643086" cy="29418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algn="r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2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Background of Time Series Analysis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4B048F8-FB09-9F5D-FCB9-39FE69A7E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6</a:t>
            </a:fld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40829F2C-3DCA-7AF4-2AC5-7BF030FE28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794" y="912654"/>
            <a:ext cx="4578364" cy="149548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2B8307-0F68-42D7-3A59-74D833C5B8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6736" y="290812"/>
            <a:ext cx="4237264" cy="261614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6AB682B-1906-77E7-C1FE-6EC00A70EE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6737" y="2527353"/>
            <a:ext cx="4237264" cy="261614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2700E76-04EA-7AA2-BD6A-EED0E45FD7FB}"/>
              </a:ext>
            </a:extLst>
          </p:cNvPr>
          <p:cNvSpPr txBox="1"/>
          <p:nvPr/>
        </p:nvSpPr>
        <p:spPr>
          <a:xfrm>
            <a:off x="7784354" y="947417"/>
            <a:ext cx="7754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ptos" panose="020B0004020202020204" pitchFamily="34" charset="0"/>
              </a:rPr>
              <a:t>Tails off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65AB1C1-00B3-7741-E0F3-F5D65F458427}"/>
              </a:ext>
            </a:extLst>
          </p:cNvPr>
          <p:cNvSpPr txBox="1"/>
          <p:nvPr/>
        </p:nvSpPr>
        <p:spPr>
          <a:xfrm>
            <a:off x="7231271" y="3324983"/>
            <a:ext cx="15713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ptos" panose="020B0004020202020204" pitchFamily="34" charset="0"/>
              </a:rPr>
              <a:t>Cut off after lag=2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D1A2F28-CC3F-24D1-8EDE-55D79758CC64}"/>
              </a:ext>
            </a:extLst>
          </p:cNvPr>
          <p:cNvSpPr txBox="1"/>
          <p:nvPr/>
        </p:nvSpPr>
        <p:spPr>
          <a:xfrm>
            <a:off x="138794" y="2527353"/>
            <a:ext cx="44332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ptos" panose="020B0004020202020204" pitchFamily="34" charset="0"/>
              </a:rPr>
              <a:t>Modeling selection for Global Warming: AR(2)</a:t>
            </a:r>
          </a:p>
          <a:p>
            <a:endParaRPr lang="en-US" sz="1200" dirty="0">
              <a:latin typeface="Aptos" panose="020B0004020202020204" pitchFamily="34" charset="0"/>
            </a:endParaRPr>
          </a:p>
          <a:p>
            <a:r>
              <a:rPr lang="en-US" sz="1200" dirty="0">
                <a:latin typeface="Aptos" panose="020B0004020202020204" pitchFamily="34" charset="0"/>
              </a:rPr>
              <a:t>We are not sure whether there are other models appropriate for Global Warming</a:t>
            </a:r>
          </a:p>
        </p:txBody>
      </p:sp>
    </p:spTree>
    <p:extLst>
      <p:ext uri="{BB962C8B-B14F-4D97-AF65-F5344CB8AC3E}">
        <p14:creationId xmlns:p14="http://schemas.microsoft.com/office/powerpoint/2010/main" val="11599739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2677F45-A819-8E76-76D1-C568C320F491}"/>
              </a:ext>
            </a:extLst>
          </p:cNvPr>
          <p:cNvSpPr txBox="1"/>
          <p:nvPr/>
        </p:nvSpPr>
        <p:spPr>
          <a:xfrm>
            <a:off x="5500914" y="0"/>
            <a:ext cx="3643086" cy="29418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algn="r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2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Project Motivation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4B048F8-FB09-9F5D-FCB9-39FE69A7E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7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BF63CD-0BFB-379B-0422-531DA83CF07F}"/>
              </a:ext>
            </a:extLst>
          </p:cNvPr>
          <p:cNvSpPr txBox="1"/>
          <p:nvPr/>
        </p:nvSpPr>
        <p:spPr>
          <a:xfrm>
            <a:off x="824593" y="11430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2361E5-9E28-04CC-60A2-8643AFDC15F3}"/>
              </a:ext>
            </a:extLst>
          </p:cNvPr>
          <p:cNvSpPr txBox="1"/>
          <p:nvPr/>
        </p:nvSpPr>
        <p:spPr>
          <a:xfrm>
            <a:off x="6188528" y="4853192"/>
            <a:ext cx="29554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Aptos" panose="020B0004020202020204" pitchFamily="34" charset="0"/>
                <a:hlinkClick r:id="rId3"/>
              </a:rPr>
              <a:t>https://github.com/zhouhaoyi/ETDataset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EA35B1-BCF0-F6B4-4595-E4D76A77D9CE}"/>
              </a:ext>
            </a:extLst>
          </p:cNvPr>
          <p:cNvSpPr txBox="1"/>
          <p:nvPr/>
        </p:nvSpPr>
        <p:spPr>
          <a:xfrm>
            <a:off x="432470" y="995808"/>
            <a:ext cx="8131865" cy="3077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just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To address climate change, we can discover catalysts to develop new energy resources, on the other hand we also should save the current energy resources. </a:t>
            </a:r>
          </a:p>
          <a:p>
            <a:pPr marL="171450" indent="-171450" algn="just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200" b="1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Predicting the electric power consumption precisely on demand can save energy. </a:t>
            </a:r>
          </a:p>
          <a:p>
            <a:pPr marL="171450" indent="-171450" algn="just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The electric power distribution problem is the distribution of electricity to different areas depends on its sequential usage, but predicting the following demand of a specific area is difficult, as it varies with weekdays, holidays, seasons, weather, temperatures, etc. </a:t>
            </a:r>
          </a:p>
          <a:p>
            <a:pPr marL="171450" indent="-171450" algn="just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It causes unnecessary waste of electricity and equipment depreciation. </a:t>
            </a:r>
          </a:p>
          <a:p>
            <a:pPr marL="171450" indent="-171450" algn="just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There is one efficient strategy to solve this problem is </a:t>
            </a:r>
            <a:r>
              <a:rPr lang="en-US" sz="1200" b="1" dirty="0">
                <a:solidFill>
                  <a:schemeClr val="accent6">
                    <a:lumMod val="75000"/>
                  </a:schemeClr>
                </a:solidFill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to predict the electrical transformers’ oil temperature because the oil temperature can reflect the electricity transformer. So that we can predict electric power consumption precisely. </a:t>
            </a:r>
          </a:p>
          <a:p>
            <a:pPr marL="171450" indent="-171450" algn="just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The </a:t>
            </a:r>
            <a:r>
              <a:rPr lang="en-US" sz="1200" b="1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dataset</a:t>
            </a:r>
            <a:r>
              <a:rPr lang="en-US" sz="12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is historical records of oil temperatures measured at electricity distribution stations. </a:t>
            </a:r>
          </a:p>
          <a:p>
            <a:pPr marL="171450" indent="-171450" algn="just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This </a:t>
            </a:r>
            <a:r>
              <a:rPr lang="en-US" sz="1200" b="1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project</a:t>
            </a:r>
            <a:r>
              <a:rPr lang="en-US" sz="12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focuses on time series data analysis, forecasting model selection and evaluation. 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1581481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AB6443-4B30-0D80-B6A9-3FC132946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8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DBC2DC-8FAD-8212-616B-B20114AA3541}"/>
              </a:ext>
            </a:extLst>
          </p:cNvPr>
          <p:cNvSpPr txBox="1"/>
          <p:nvPr/>
        </p:nvSpPr>
        <p:spPr>
          <a:xfrm>
            <a:off x="5500914" y="0"/>
            <a:ext cx="3643086" cy="3077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latin typeface="Aptos" panose="020B0004020202020204" pitchFamily="34" charset="0"/>
                <a:cs typeface="Times New Roman" panose="02020603050405020304" pitchFamily="18" charset="0"/>
              </a:rPr>
              <a:t>Data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A99E262-899B-FCBB-7DA3-6BA81CE8EA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6946493"/>
              </p:ext>
            </p:extLst>
          </p:nvPr>
        </p:nvGraphicFramePr>
        <p:xfrm>
          <a:off x="2341245" y="311793"/>
          <a:ext cx="6802755" cy="825564"/>
        </p:xfrm>
        <a:graphic>
          <a:graphicData uri="http://schemas.openxmlformats.org/drawingml/2006/table">
            <a:tbl>
              <a:tblPr firstRow="1" firstCol="1" bandRow="1">
                <a:tableStyleId>{0E3FDE45-AF77-4B5C-9715-49D594BDF05E}</a:tableStyleId>
              </a:tblPr>
              <a:tblGrid>
                <a:gridCol w="726440">
                  <a:extLst>
                    <a:ext uri="{9D8B030D-6E8A-4147-A177-3AD203B41FA5}">
                      <a16:colId xmlns:a16="http://schemas.microsoft.com/office/drawing/2014/main" val="4009802249"/>
                    </a:ext>
                  </a:extLst>
                </a:gridCol>
                <a:gridCol w="840740">
                  <a:extLst>
                    <a:ext uri="{9D8B030D-6E8A-4147-A177-3AD203B41FA5}">
                      <a16:colId xmlns:a16="http://schemas.microsoft.com/office/drawing/2014/main" val="3157281729"/>
                    </a:ext>
                  </a:extLst>
                </a:gridCol>
                <a:gridCol w="865505">
                  <a:extLst>
                    <a:ext uri="{9D8B030D-6E8A-4147-A177-3AD203B41FA5}">
                      <a16:colId xmlns:a16="http://schemas.microsoft.com/office/drawing/2014/main" val="1463234682"/>
                    </a:ext>
                  </a:extLst>
                </a:gridCol>
                <a:gridCol w="846455">
                  <a:extLst>
                    <a:ext uri="{9D8B030D-6E8A-4147-A177-3AD203B41FA5}">
                      <a16:colId xmlns:a16="http://schemas.microsoft.com/office/drawing/2014/main" val="1556709633"/>
                    </a:ext>
                  </a:extLst>
                </a:gridCol>
                <a:gridCol w="866140">
                  <a:extLst>
                    <a:ext uri="{9D8B030D-6E8A-4147-A177-3AD203B41FA5}">
                      <a16:colId xmlns:a16="http://schemas.microsoft.com/office/drawing/2014/main" val="1849081058"/>
                    </a:ext>
                  </a:extLst>
                </a:gridCol>
                <a:gridCol w="841375">
                  <a:extLst>
                    <a:ext uri="{9D8B030D-6E8A-4147-A177-3AD203B41FA5}">
                      <a16:colId xmlns:a16="http://schemas.microsoft.com/office/drawing/2014/main" val="1220488464"/>
                    </a:ext>
                  </a:extLst>
                </a:gridCol>
                <a:gridCol w="866140">
                  <a:extLst>
                    <a:ext uri="{9D8B030D-6E8A-4147-A177-3AD203B41FA5}">
                      <a16:colId xmlns:a16="http://schemas.microsoft.com/office/drawing/2014/main" val="1242324819"/>
                    </a:ext>
                  </a:extLst>
                </a:gridCol>
                <a:gridCol w="949960">
                  <a:extLst>
                    <a:ext uri="{9D8B030D-6E8A-4147-A177-3AD203B41FA5}">
                      <a16:colId xmlns:a16="http://schemas.microsoft.com/office/drawing/2014/main" val="4135433384"/>
                    </a:ext>
                  </a:extLst>
                </a:gridCol>
              </a:tblGrid>
              <a:tr h="2057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Time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HUFL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HULL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MUFL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MULL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LUFL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LULL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solidFill>
                            <a:srgbClr val="FF0000"/>
                          </a:solidFill>
                          <a:effectLst/>
                        </a:rPr>
                        <a:t>OT</a:t>
                      </a:r>
                      <a:endParaRPr lang="en-US" sz="1200" kern="10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22124537"/>
                  </a:ext>
                </a:extLst>
              </a:tr>
              <a:tr h="61849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 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Days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High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Useful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Load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High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Useless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Load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Middle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Useful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Load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Middle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Useless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Load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Low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Useful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Load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Low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Useless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Load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solidFill>
                            <a:srgbClr val="FF0000"/>
                          </a:solidFill>
                          <a:effectLst/>
                        </a:rPr>
                        <a:t>Oil Temperature</a:t>
                      </a:r>
                      <a:endParaRPr lang="en-US" sz="1200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12950481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5AE32E0B-EA7B-823E-3E9B-5829A4F95D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5143" y="1156398"/>
            <a:ext cx="3918857" cy="241955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35BCC43-D4E5-ABB4-630D-B71D7D56ED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1156398"/>
            <a:ext cx="3418709" cy="2110759"/>
          </a:xfrm>
          <a:prstGeom prst="rect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96AE6D4-0721-9946-8CF3-B67DE63543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178586"/>
            <a:ext cx="3418709" cy="1964914"/>
          </a:xfrm>
          <a:prstGeom prst="rect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BA7A8A8-467F-FFBB-3040-F3A6F295AB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25143" y="3575956"/>
            <a:ext cx="3918857" cy="1360724"/>
          </a:xfrm>
          <a:prstGeom prst="rect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05DA4F7-59B5-6413-E34D-6B2896CAE5BA}"/>
              </a:ext>
            </a:extLst>
          </p:cNvPr>
          <p:cNvSpPr txBox="1"/>
          <p:nvPr/>
        </p:nvSpPr>
        <p:spPr>
          <a:xfrm>
            <a:off x="2341245" y="1521530"/>
            <a:ext cx="8298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Tail off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11EFA11-70AF-2318-E691-8B5AFDE776EB}"/>
              </a:ext>
            </a:extLst>
          </p:cNvPr>
          <p:cNvSpPr txBox="1"/>
          <p:nvPr/>
        </p:nvSpPr>
        <p:spPr>
          <a:xfrm>
            <a:off x="1530446" y="3521920"/>
            <a:ext cx="1640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Cut off at lag 6</a:t>
            </a:r>
          </a:p>
        </p:txBody>
      </p:sp>
    </p:spTree>
    <p:extLst>
      <p:ext uri="{BB962C8B-B14F-4D97-AF65-F5344CB8AC3E}">
        <p14:creationId xmlns:p14="http://schemas.microsoft.com/office/powerpoint/2010/main" val="37838183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AB6443-4B30-0D80-B6A9-3FC132946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9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DBC2DC-8FAD-8212-616B-B20114AA3541}"/>
              </a:ext>
            </a:extLst>
          </p:cNvPr>
          <p:cNvSpPr txBox="1"/>
          <p:nvPr/>
        </p:nvSpPr>
        <p:spPr>
          <a:xfrm>
            <a:off x="5500914" y="0"/>
            <a:ext cx="3643086" cy="3077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latin typeface="Aptos" panose="020B0004020202020204" pitchFamily="34" charset="0"/>
                <a:cs typeface="Times New Roman" panose="02020603050405020304" pitchFamily="18" charset="0"/>
              </a:rPr>
              <a:t>Data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A99E262-899B-FCBB-7DA3-6BA81CE8EABC}"/>
              </a:ext>
            </a:extLst>
          </p:cNvPr>
          <p:cNvGraphicFramePr>
            <a:graphicFrameLocks noGrp="1"/>
          </p:cNvGraphicFramePr>
          <p:nvPr/>
        </p:nvGraphicFramePr>
        <p:xfrm>
          <a:off x="2341245" y="311793"/>
          <a:ext cx="6802755" cy="825564"/>
        </p:xfrm>
        <a:graphic>
          <a:graphicData uri="http://schemas.openxmlformats.org/drawingml/2006/table">
            <a:tbl>
              <a:tblPr firstRow="1" firstCol="1" bandRow="1">
                <a:tableStyleId>{0E3FDE45-AF77-4B5C-9715-49D594BDF05E}</a:tableStyleId>
              </a:tblPr>
              <a:tblGrid>
                <a:gridCol w="726440">
                  <a:extLst>
                    <a:ext uri="{9D8B030D-6E8A-4147-A177-3AD203B41FA5}">
                      <a16:colId xmlns:a16="http://schemas.microsoft.com/office/drawing/2014/main" val="4009802249"/>
                    </a:ext>
                  </a:extLst>
                </a:gridCol>
                <a:gridCol w="840740">
                  <a:extLst>
                    <a:ext uri="{9D8B030D-6E8A-4147-A177-3AD203B41FA5}">
                      <a16:colId xmlns:a16="http://schemas.microsoft.com/office/drawing/2014/main" val="3157281729"/>
                    </a:ext>
                  </a:extLst>
                </a:gridCol>
                <a:gridCol w="865505">
                  <a:extLst>
                    <a:ext uri="{9D8B030D-6E8A-4147-A177-3AD203B41FA5}">
                      <a16:colId xmlns:a16="http://schemas.microsoft.com/office/drawing/2014/main" val="1463234682"/>
                    </a:ext>
                  </a:extLst>
                </a:gridCol>
                <a:gridCol w="846455">
                  <a:extLst>
                    <a:ext uri="{9D8B030D-6E8A-4147-A177-3AD203B41FA5}">
                      <a16:colId xmlns:a16="http://schemas.microsoft.com/office/drawing/2014/main" val="1556709633"/>
                    </a:ext>
                  </a:extLst>
                </a:gridCol>
                <a:gridCol w="866140">
                  <a:extLst>
                    <a:ext uri="{9D8B030D-6E8A-4147-A177-3AD203B41FA5}">
                      <a16:colId xmlns:a16="http://schemas.microsoft.com/office/drawing/2014/main" val="1849081058"/>
                    </a:ext>
                  </a:extLst>
                </a:gridCol>
                <a:gridCol w="841375">
                  <a:extLst>
                    <a:ext uri="{9D8B030D-6E8A-4147-A177-3AD203B41FA5}">
                      <a16:colId xmlns:a16="http://schemas.microsoft.com/office/drawing/2014/main" val="1220488464"/>
                    </a:ext>
                  </a:extLst>
                </a:gridCol>
                <a:gridCol w="866140">
                  <a:extLst>
                    <a:ext uri="{9D8B030D-6E8A-4147-A177-3AD203B41FA5}">
                      <a16:colId xmlns:a16="http://schemas.microsoft.com/office/drawing/2014/main" val="1242324819"/>
                    </a:ext>
                  </a:extLst>
                </a:gridCol>
                <a:gridCol w="949960">
                  <a:extLst>
                    <a:ext uri="{9D8B030D-6E8A-4147-A177-3AD203B41FA5}">
                      <a16:colId xmlns:a16="http://schemas.microsoft.com/office/drawing/2014/main" val="4135433384"/>
                    </a:ext>
                  </a:extLst>
                </a:gridCol>
              </a:tblGrid>
              <a:tr h="2057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Time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HUFL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HULL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MUFL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MULL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LUFL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LULL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solidFill>
                            <a:srgbClr val="FF0000"/>
                          </a:solidFill>
                          <a:effectLst/>
                        </a:rPr>
                        <a:t>OT</a:t>
                      </a:r>
                      <a:endParaRPr lang="en-US" sz="1200" kern="10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22124537"/>
                  </a:ext>
                </a:extLst>
              </a:tr>
              <a:tr h="61849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 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Days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High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Useful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Load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High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Useless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Load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Middle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Useful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Load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Middle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Useless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Load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Low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Useful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Load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Low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Useless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Load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solidFill>
                            <a:srgbClr val="FF0000"/>
                          </a:solidFill>
                          <a:effectLst/>
                        </a:rPr>
                        <a:t>Oil Temperature</a:t>
                      </a:r>
                      <a:endParaRPr lang="en-US" sz="1200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12950481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40FEE294-7493-D16B-B72C-F07C929379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44" y="1326924"/>
            <a:ext cx="2996292" cy="184995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8F4A6B5-954B-A6E5-87CF-BCBE91069B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7936" y="1317228"/>
            <a:ext cx="2996294" cy="184995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DB07C8A-5B7D-B7F9-F821-FC0A0D4E3A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4230" y="1326924"/>
            <a:ext cx="2996292" cy="184995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41A2670-08A3-63E2-FA35-D87B29E63D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643" y="3246308"/>
            <a:ext cx="2996293" cy="184995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FBBE902-D37D-2366-096B-483FDB78FB8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86102" y="3251350"/>
            <a:ext cx="2988128" cy="184491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E116ADE-145F-9DAC-825D-221F41CD5CC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82395" y="3246307"/>
            <a:ext cx="2979961" cy="183987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67F70F4-692A-AED8-7E06-B4220A965C24}"/>
              </a:ext>
            </a:extLst>
          </p:cNvPr>
          <p:cNvSpPr txBox="1"/>
          <p:nvPr/>
        </p:nvSpPr>
        <p:spPr>
          <a:xfrm>
            <a:off x="800100" y="1559379"/>
            <a:ext cx="6256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Aptos" panose="020B0004020202020204" pitchFamily="34" charset="0"/>
              </a:rPr>
              <a:t>LULL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4761C0D-BBC9-FFD3-D55C-89AB6A348F57}"/>
              </a:ext>
            </a:extLst>
          </p:cNvPr>
          <p:cNvSpPr txBox="1"/>
          <p:nvPr/>
        </p:nvSpPr>
        <p:spPr>
          <a:xfrm>
            <a:off x="3327507" y="1489171"/>
            <a:ext cx="6304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Aptos" panose="020B0004020202020204" pitchFamily="34" charset="0"/>
              </a:rPr>
              <a:t>LUFL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693A8E3-FA4F-7095-55B4-73EFEF3FD35F}"/>
              </a:ext>
            </a:extLst>
          </p:cNvPr>
          <p:cNvSpPr txBox="1"/>
          <p:nvPr/>
        </p:nvSpPr>
        <p:spPr>
          <a:xfrm>
            <a:off x="6639048" y="1489171"/>
            <a:ext cx="6912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Aptos" panose="020B0004020202020204" pitchFamily="34" charset="0"/>
              </a:rPr>
              <a:t>MULL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42CEC35-1CF3-F555-F5DF-D6C780DFE8CE}"/>
              </a:ext>
            </a:extLst>
          </p:cNvPr>
          <p:cNvSpPr txBox="1"/>
          <p:nvPr/>
        </p:nvSpPr>
        <p:spPr>
          <a:xfrm>
            <a:off x="756313" y="3477796"/>
            <a:ext cx="69602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Aptos" panose="020B0004020202020204" pitchFamily="34" charset="0"/>
              </a:rPr>
              <a:t>MUFL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7023844-0296-C36A-17F0-E398F88A9D06}"/>
              </a:ext>
            </a:extLst>
          </p:cNvPr>
          <p:cNvSpPr txBox="1"/>
          <p:nvPr/>
        </p:nvSpPr>
        <p:spPr>
          <a:xfrm>
            <a:off x="3439764" y="3477796"/>
            <a:ext cx="6751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Aptos" panose="020B0004020202020204" pitchFamily="34" charset="0"/>
              </a:rPr>
              <a:t>HULL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0948F64-ECB5-7978-4CAF-8B2D84F06333}"/>
              </a:ext>
            </a:extLst>
          </p:cNvPr>
          <p:cNvSpPr txBox="1"/>
          <p:nvPr/>
        </p:nvSpPr>
        <p:spPr>
          <a:xfrm>
            <a:off x="6493724" y="3477796"/>
            <a:ext cx="6799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Aptos" panose="020B0004020202020204" pitchFamily="34" charset="0"/>
              </a:rPr>
              <a:t>HUFL</a:t>
            </a:r>
          </a:p>
        </p:txBody>
      </p:sp>
    </p:spTree>
    <p:extLst>
      <p:ext uri="{BB962C8B-B14F-4D97-AF65-F5344CB8AC3E}">
        <p14:creationId xmlns:p14="http://schemas.microsoft.com/office/powerpoint/2010/main" val="17621599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260F2B7D-E91D-7A9A-C103-4BD432D84F46}"/>
              </a:ext>
            </a:extLst>
          </p:cNvPr>
          <p:cNvSpPr txBox="1"/>
          <p:nvPr/>
        </p:nvSpPr>
        <p:spPr>
          <a:xfrm>
            <a:off x="4851400" y="0"/>
            <a:ext cx="4292600" cy="30777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latin typeface="Aptos" panose="020B0004020202020204" pitchFamily="34" charset="0"/>
                <a:cs typeface="Times New Roman" panose="02020603050405020304" pitchFamily="18" charset="0"/>
              </a:rPr>
              <a:t>Models: Linear Regression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8E87C54-C6F9-D6EA-165C-7224E94FC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BEA799F-29D3-FE3B-C838-1F48F42962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95431"/>
            <a:ext cx="4327070" cy="312692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D757168-ECB3-50FB-7DA3-C58877DABC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222352"/>
            <a:ext cx="4327071" cy="1921148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231836E-8D06-559E-D22F-345D0D45A7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4221" y="1094014"/>
            <a:ext cx="4669971" cy="2883307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5926390-F446-6643-7082-EF0BC9A46084}"/>
              </a:ext>
            </a:extLst>
          </p:cNvPr>
          <p:cNvSpPr txBox="1"/>
          <p:nvPr/>
        </p:nvSpPr>
        <p:spPr>
          <a:xfrm>
            <a:off x="5792199" y="307777"/>
            <a:ext cx="299257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0" dirty="0">
                <a:solidFill>
                  <a:srgbClr val="202122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</a:rPr>
              <a:t>polynomial regression at degree 2</a:t>
            </a:r>
            <a:endParaRPr lang="en-US" sz="12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8140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260F2B7D-E91D-7A9A-C103-4BD432D84F46}"/>
              </a:ext>
            </a:extLst>
          </p:cNvPr>
          <p:cNvSpPr txBox="1"/>
          <p:nvPr/>
        </p:nvSpPr>
        <p:spPr>
          <a:xfrm>
            <a:off x="4851400" y="0"/>
            <a:ext cx="4292600" cy="30777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latin typeface="Aptos" panose="020B0004020202020204" pitchFamily="34" charset="0"/>
                <a:cs typeface="Times New Roman" panose="02020603050405020304" pitchFamily="18" charset="0"/>
              </a:rPr>
              <a:t>Models: Linear Regression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8E87C54-C6F9-D6EA-165C-7224E94FC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11</a:t>
            </a:fld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9EB473E-620F-5FFA-012A-1B7FC8D7C7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36" y="677109"/>
            <a:ext cx="3609976" cy="2228851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4973491-FCC4-0A1D-66CF-FE092E3860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836" y="2905960"/>
            <a:ext cx="3609976" cy="2245386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F29F438-AD37-FDD2-46CC-A1FA6DB51267}"/>
              </a:ext>
            </a:extLst>
          </p:cNvPr>
          <p:cNvSpPr txBox="1"/>
          <p:nvPr/>
        </p:nvSpPr>
        <p:spPr>
          <a:xfrm>
            <a:off x="896116" y="427231"/>
            <a:ext cx="18598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ptos" panose="020B0004020202020204" pitchFamily="34" charset="0"/>
              </a:rPr>
              <a:t>Check Residual IID</a:t>
            </a: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89B67896-5B40-C751-1A3E-53D36CBF784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C3C323-CE13-3EFD-1A34-FCB7075369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2847" y="765785"/>
            <a:ext cx="3539217" cy="2185163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48F3BAC-E77F-F22B-3477-3694A056CDC0}"/>
              </a:ext>
            </a:extLst>
          </p:cNvPr>
          <p:cNvSpPr txBox="1"/>
          <p:nvPr/>
        </p:nvSpPr>
        <p:spPr>
          <a:xfrm>
            <a:off x="5293945" y="507305"/>
            <a:ext cx="24849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ptos" panose="020B0004020202020204" pitchFamily="34" charset="0"/>
              </a:rPr>
              <a:t>Check Residual Normality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25D349B-BAAD-4059-6F2B-3469F40680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2847" y="2943066"/>
            <a:ext cx="3539217" cy="2228850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16A2D3B-23D1-1C45-69C3-8FA6DE0BF331}"/>
              </a:ext>
            </a:extLst>
          </p:cNvPr>
          <p:cNvSpPr txBox="1"/>
          <p:nvPr/>
        </p:nvSpPr>
        <p:spPr>
          <a:xfrm>
            <a:off x="2344590" y="3546413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ptos" panose="020B0004020202020204" pitchFamily="34" charset="0"/>
              </a:rPr>
              <a:t>Not IID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E901E4-9C74-6F5D-8A08-9F8CFECB4D86}"/>
              </a:ext>
            </a:extLst>
          </p:cNvPr>
          <p:cNvSpPr txBox="1"/>
          <p:nvPr/>
        </p:nvSpPr>
        <p:spPr>
          <a:xfrm>
            <a:off x="7345244" y="3361747"/>
            <a:ext cx="9316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ptos" panose="020B0004020202020204" pitchFamily="34" charset="0"/>
              </a:rPr>
              <a:t>Normal</a:t>
            </a:r>
          </a:p>
        </p:txBody>
      </p:sp>
    </p:spTree>
    <p:extLst>
      <p:ext uri="{BB962C8B-B14F-4D97-AF65-F5344CB8AC3E}">
        <p14:creationId xmlns:p14="http://schemas.microsoft.com/office/powerpoint/2010/main" val="38038131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260F2B7D-E91D-7A9A-C103-4BD432D84F46}"/>
              </a:ext>
            </a:extLst>
          </p:cNvPr>
          <p:cNvSpPr txBox="1"/>
          <p:nvPr/>
        </p:nvSpPr>
        <p:spPr>
          <a:xfrm>
            <a:off x="4851400" y="0"/>
            <a:ext cx="4292600" cy="30777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latin typeface="Aptos" panose="020B0004020202020204" pitchFamily="34" charset="0"/>
                <a:cs typeface="Times New Roman" panose="02020603050405020304" pitchFamily="18" charset="0"/>
              </a:rPr>
              <a:t>Models: Linear Regression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8E87C54-C6F9-D6EA-165C-7224E94FC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12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9E6AD0-246C-3F87-0772-B42571183285}"/>
              </a:ext>
            </a:extLst>
          </p:cNvPr>
          <p:cNvSpPr txBox="1"/>
          <p:nvPr/>
        </p:nvSpPr>
        <p:spPr>
          <a:xfrm>
            <a:off x="173265" y="1566573"/>
            <a:ext cx="78359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Aptos" panose="020B0004020202020204" pitchFamily="34" charset="0"/>
              </a:rPr>
              <a:t>fit.model3 &lt;- </a:t>
            </a:r>
            <a:r>
              <a:rPr lang="en-US" sz="1200" dirty="0" err="1">
                <a:latin typeface="Aptos" panose="020B0004020202020204" pitchFamily="34" charset="0"/>
              </a:rPr>
              <a:t>lm</a:t>
            </a:r>
            <a:r>
              <a:rPr lang="en-US" sz="1200" dirty="0">
                <a:latin typeface="Aptos" panose="020B0004020202020204" pitchFamily="34" charset="0"/>
              </a:rPr>
              <a:t>(OT ~ trend + (hufl+</a:t>
            </a:r>
            <a:r>
              <a:rPr lang="en-US" sz="1200" b="1" dirty="0">
                <a:latin typeface="Aptos" panose="020B0004020202020204" pitchFamily="34" charset="0"/>
              </a:rPr>
              <a:t>hufl2</a:t>
            </a:r>
            <a:r>
              <a:rPr lang="en-US" sz="1200" dirty="0">
                <a:latin typeface="Aptos" panose="020B0004020202020204" pitchFamily="34" charset="0"/>
              </a:rPr>
              <a:t>) + (hull+</a:t>
            </a:r>
            <a:r>
              <a:rPr lang="en-US" sz="1200" b="1" dirty="0">
                <a:latin typeface="Aptos" panose="020B0004020202020204" pitchFamily="34" charset="0"/>
              </a:rPr>
              <a:t>hull2</a:t>
            </a:r>
            <a:r>
              <a:rPr lang="en-US" sz="1200" dirty="0">
                <a:latin typeface="Aptos" panose="020B0004020202020204" pitchFamily="34" charset="0"/>
              </a:rPr>
              <a:t>) + (mufl+</a:t>
            </a:r>
            <a:r>
              <a:rPr lang="en-US" sz="1200" b="1" dirty="0">
                <a:latin typeface="Aptos" panose="020B0004020202020204" pitchFamily="34" charset="0"/>
              </a:rPr>
              <a:t>mufl2</a:t>
            </a:r>
            <a:r>
              <a:rPr lang="en-US" sz="1200" dirty="0">
                <a:latin typeface="Aptos" panose="020B0004020202020204" pitchFamily="34" charset="0"/>
              </a:rPr>
              <a:t>) + (mull+</a:t>
            </a:r>
            <a:r>
              <a:rPr lang="en-US" sz="1200" b="1" dirty="0">
                <a:latin typeface="Aptos" panose="020B0004020202020204" pitchFamily="34" charset="0"/>
              </a:rPr>
              <a:t>mull2</a:t>
            </a:r>
            <a:r>
              <a:rPr lang="en-US" sz="1200" dirty="0">
                <a:latin typeface="Aptos" panose="020B0004020202020204" pitchFamily="34" charset="0"/>
              </a:rPr>
              <a:t>) + (lufl+</a:t>
            </a:r>
            <a:r>
              <a:rPr lang="en-US" sz="1200" b="1" dirty="0">
                <a:latin typeface="Aptos" panose="020B0004020202020204" pitchFamily="34" charset="0"/>
              </a:rPr>
              <a:t>lufl2</a:t>
            </a:r>
            <a:r>
              <a:rPr lang="en-US" sz="1200" dirty="0">
                <a:latin typeface="Aptos" panose="020B0004020202020204" pitchFamily="34" charset="0"/>
              </a:rPr>
              <a:t>) + (lull+</a:t>
            </a:r>
            <a:r>
              <a:rPr lang="en-US" sz="1200" b="1" dirty="0">
                <a:latin typeface="Aptos" panose="020B0004020202020204" pitchFamily="34" charset="0"/>
              </a:rPr>
              <a:t>lull2</a:t>
            </a:r>
            <a:r>
              <a:rPr lang="en-US" sz="1200" dirty="0">
                <a:latin typeface="Aptos" panose="020B0004020202020204" pitchFamily="34" charset="0"/>
              </a:rPr>
              <a:t>))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4CA45B-CA27-360C-799B-94507E127B4B}"/>
              </a:ext>
            </a:extLst>
          </p:cNvPr>
          <p:cNvSpPr txBox="1"/>
          <p:nvPr/>
        </p:nvSpPr>
        <p:spPr>
          <a:xfrm>
            <a:off x="173265" y="1264406"/>
            <a:ext cx="616858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Aptos" panose="020B0004020202020204" pitchFamily="34" charset="0"/>
              </a:rPr>
              <a:t>fit.model2 &lt;- </a:t>
            </a:r>
            <a:r>
              <a:rPr lang="en-US" sz="1200" dirty="0" err="1">
                <a:latin typeface="Aptos" panose="020B0004020202020204" pitchFamily="34" charset="0"/>
              </a:rPr>
              <a:t>lm</a:t>
            </a:r>
            <a:r>
              <a:rPr lang="en-US" sz="1200" dirty="0">
                <a:latin typeface="Aptos" panose="020B0004020202020204" pitchFamily="34" charset="0"/>
              </a:rPr>
              <a:t>(OT ~ trend + </a:t>
            </a:r>
            <a:r>
              <a:rPr lang="en-US" sz="1200" dirty="0" err="1">
                <a:latin typeface="Aptos" panose="020B0004020202020204" pitchFamily="34" charset="0"/>
              </a:rPr>
              <a:t>hufl</a:t>
            </a:r>
            <a:r>
              <a:rPr lang="en-US" sz="1200" dirty="0">
                <a:latin typeface="Aptos" panose="020B0004020202020204" pitchFamily="34" charset="0"/>
              </a:rPr>
              <a:t> + hull + </a:t>
            </a:r>
            <a:r>
              <a:rPr lang="en-US" sz="1200" dirty="0" err="1">
                <a:latin typeface="Aptos" panose="020B0004020202020204" pitchFamily="34" charset="0"/>
              </a:rPr>
              <a:t>mufl</a:t>
            </a:r>
            <a:r>
              <a:rPr lang="en-US" sz="1200" dirty="0">
                <a:latin typeface="Aptos" panose="020B0004020202020204" pitchFamily="34" charset="0"/>
              </a:rPr>
              <a:t> + mull + (</a:t>
            </a:r>
            <a:r>
              <a:rPr lang="en-US" sz="1200" dirty="0" err="1">
                <a:latin typeface="Aptos" panose="020B0004020202020204" pitchFamily="34" charset="0"/>
              </a:rPr>
              <a:t>lufl</a:t>
            </a:r>
            <a:r>
              <a:rPr lang="en-US" sz="1200" dirty="0">
                <a:latin typeface="Aptos" panose="020B0004020202020204" pitchFamily="34" charset="0"/>
              </a:rPr>
              <a:t> +</a:t>
            </a:r>
            <a:r>
              <a:rPr lang="en-US" sz="1200" b="1" dirty="0">
                <a:latin typeface="Aptos" panose="020B0004020202020204" pitchFamily="34" charset="0"/>
              </a:rPr>
              <a:t>lufl2</a:t>
            </a:r>
            <a:r>
              <a:rPr lang="en-US" sz="1200" dirty="0">
                <a:latin typeface="Aptos" panose="020B0004020202020204" pitchFamily="34" charset="0"/>
              </a:rPr>
              <a:t>) + (lull +</a:t>
            </a:r>
            <a:r>
              <a:rPr lang="en-US" sz="1200" b="1" dirty="0">
                <a:latin typeface="Aptos" panose="020B0004020202020204" pitchFamily="34" charset="0"/>
              </a:rPr>
              <a:t>lull2</a:t>
            </a:r>
            <a:r>
              <a:rPr lang="en-US" sz="1200" dirty="0">
                <a:latin typeface="Aptos" panose="020B0004020202020204" pitchFamily="34" charset="0"/>
              </a:rPr>
              <a:t>))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CAD0CAF-7212-F8BC-97A7-B8D741B76060}"/>
              </a:ext>
            </a:extLst>
          </p:cNvPr>
          <p:cNvSpPr txBox="1"/>
          <p:nvPr/>
        </p:nvSpPr>
        <p:spPr>
          <a:xfrm>
            <a:off x="173265" y="987407"/>
            <a:ext cx="581705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Aptos" panose="020B0004020202020204" pitchFamily="34" charset="0"/>
              </a:rPr>
              <a:t>fit.model1 &lt;- </a:t>
            </a:r>
            <a:r>
              <a:rPr lang="en-US" sz="1200" dirty="0" err="1">
                <a:latin typeface="Aptos" panose="020B0004020202020204" pitchFamily="34" charset="0"/>
              </a:rPr>
              <a:t>lm</a:t>
            </a:r>
            <a:r>
              <a:rPr lang="en-US" sz="1200" dirty="0">
                <a:latin typeface="Aptos" panose="020B0004020202020204" pitchFamily="34" charset="0"/>
              </a:rPr>
              <a:t>(OT ~ trend + </a:t>
            </a:r>
            <a:r>
              <a:rPr lang="en-US" sz="1200" dirty="0" err="1">
                <a:latin typeface="Aptos" panose="020B0004020202020204" pitchFamily="34" charset="0"/>
              </a:rPr>
              <a:t>hufl</a:t>
            </a:r>
            <a:r>
              <a:rPr lang="en-US" sz="1200" dirty="0">
                <a:latin typeface="Aptos" panose="020B0004020202020204" pitchFamily="34" charset="0"/>
              </a:rPr>
              <a:t> + hull + </a:t>
            </a:r>
            <a:r>
              <a:rPr lang="en-US" sz="1200" dirty="0" err="1">
                <a:latin typeface="Aptos" panose="020B0004020202020204" pitchFamily="34" charset="0"/>
              </a:rPr>
              <a:t>mufl</a:t>
            </a:r>
            <a:r>
              <a:rPr lang="en-US" sz="1200" dirty="0">
                <a:latin typeface="Aptos" panose="020B0004020202020204" pitchFamily="34" charset="0"/>
              </a:rPr>
              <a:t> + mull + (</a:t>
            </a:r>
            <a:r>
              <a:rPr lang="en-US" sz="1200" b="1" dirty="0">
                <a:latin typeface="Aptos" panose="020B0004020202020204" pitchFamily="34" charset="0"/>
              </a:rPr>
              <a:t>lufl2</a:t>
            </a:r>
            <a:r>
              <a:rPr lang="en-US" sz="1200" dirty="0">
                <a:latin typeface="Aptos" panose="020B0004020202020204" pitchFamily="34" charset="0"/>
              </a:rPr>
              <a:t>) + (</a:t>
            </a:r>
            <a:r>
              <a:rPr lang="en-US" sz="1200" b="1" dirty="0">
                <a:latin typeface="Aptos" panose="020B0004020202020204" pitchFamily="34" charset="0"/>
              </a:rPr>
              <a:t>lull2</a:t>
            </a:r>
            <a:r>
              <a:rPr lang="en-US" sz="1200" dirty="0">
                <a:latin typeface="Aptos" panose="020B0004020202020204" pitchFamily="34" charset="0"/>
              </a:rPr>
              <a:t>))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7D338D21-CD02-344A-176D-8C856A211C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9923624"/>
              </p:ext>
            </p:extLst>
          </p:nvPr>
        </p:nvGraphicFramePr>
        <p:xfrm>
          <a:off x="245853" y="2058521"/>
          <a:ext cx="6096000" cy="148336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390806007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702086466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477408788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275643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ptos" panose="020B0004020202020204" pitchFamily="34" charset="0"/>
                        </a:rP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ptos" panose="020B0004020202020204" pitchFamily="34" charset="0"/>
                        </a:rPr>
                        <a:t>AIC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ptos" panose="020B0004020202020204" pitchFamily="34" charset="0"/>
                        </a:rPr>
                        <a:t>BIC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>
                          <a:latin typeface="Aptos" panose="020B0004020202020204" pitchFamily="34" charset="0"/>
                        </a:rPr>
                        <a:t>AICc</a:t>
                      </a:r>
                      <a:endParaRPr lang="en-US" sz="12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50521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ptos" panose="020B0004020202020204" pitchFamily="34" charset="0"/>
                        </a:rPr>
                        <a:t>Model_1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ptos" panose="020B0004020202020204" pitchFamily="34" charset="0"/>
                        </a:rPr>
                        <a:t>4.2675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ptos" panose="020B0004020202020204" pitchFamily="34" charset="0"/>
                        </a:rPr>
                        <a:t>4.3244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ptos" panose="020B0004020202020204" pitchFamily="34" charset="0"/>
                        </a:rPr>
                        <a:t>4.2594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53241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Aptos" panose="020B0004020202020204" pitchFamily="34" charset="0"/>
                        </a:rPr>
                        <a:t>Model_2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ptos" panose="020B0004020202020204" pitchFamily="34" charset="0"/>
                        </a:rPr>
                        <a:t>4.2669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ptos" panose="020B0004020202020204" pitchFamily="34" charset="0"/>
                        </a:rPr>
                        <a:t>4.3364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ptos" panose="020B0004020202020204" pitchFamily="34" charset="0"/>
                        </a:rPr>
                        <a:t>4.2533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63110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rgbClr val="FF0000"/>
                          </a:solidFill>
                          <a:latin typeface="Aptos" panose="020B0004020202020204" pitchFamily="34" charset="0"/>
                        </a:rPr>
                        <a:t>Model_3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ptos" panose="020B0004020202020204" pitchFamily="34" charset="0"/>
                        </a:rPr>
                        <a:t>4.2515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ptos" panose="020B0004020202020204" pitchFamily="34" charset="0"/>
                        </a:rPr>
                        <a:t>4.3463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ptos" panose="020B0004020202020204" pitchFamily="34" charset="0"/>
                        </a:rPr>
                        <a:t>4.2269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81419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51736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260F2B7D-E91D-7A9A-C103-4BD432D84F46}"/>
              </a:ext>
            </a:extLst>
          </p:cNvPr>
          <p:cNvSpPr txBox="1"/>
          <p:nvPr/>
        </p:nvSpPr>
        <p:spPr>
          <a:xfrm>
            <a:off x="4851400" y="0"/>
            <a:ext cx="4292600" cy="307777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latin typeface="Aptos" panose="020B0004020202020204" pitchFamily="34" charset="0"/>
                <a:cs typeface="Times New Roman" panose="02020603050405020304" pitchFamily="18" charset="0"/>
              </a:rPr>
              <a:t>Models: ARIMA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8E87C54-C6F9-D6EA-165C-7224E94FC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08AB6F-E88B-6349-3598-16C0A6D1CF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43742"/>
            <a:ext cx="6294664" cy="298791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73505DF-5F7D-E50D-823B-6FD4F12B36AD}"/>
                  </a:ext>
                </a:extLst>
              </p:cNvPr>
              <p:cNvSpPr txBox="1"/>
              <p:nvPr/>
            </p:nvSpPr>
            <p:spPr>
              <a:xfrm>
                <a:off x="6294664" y="1168428"/>
                <a:ext cx="2649451" cy="2154436"/>
              </a:xfrm>
              <a:prstGeom prst="rect">
                <a:avLst/>
              </a:prstGeom>
              <a:noFill/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500"/>
                  </a:spcBef>
                  <a:spcAft>
                    <a:spcPts val="500"/>
                  </a:spcAft>
                </a:pPr>
                <a:r>
                  <a:rPr lang="en-US" sz="1200" dirty="0">
                    <a:latin typeface="Aptos" panose="020B0004020202020204" pitchFamily="34" charset="0"/>
                  </a:rPr>
                  <a:t>Steps in ARIMA modeling </a:t>
                </a:r>
              </a:p>
              <a:p>
                <a:pPr>
                  <a:spcBef>
                    <a:spcPts val="500"/>
                  </a:spcBef>
                  <a:spcAft>
                    <a:spcPts val="500"/>
                  </a:spcAft>
                </a:pPr>
                <a:r>
                  <a:rPr lang="en-US" sz="1200" dirty="0">
                    <a:latin typeface="Aptos" panose="020B0004020202020204" pitchFamily="34" charset="0"/>
                  </a:rPr>
                  <a:t>Step1: differencing to get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200" dirty="0">
                    <a:latin typeface="Aptos" panose="020B0004020202020204" pitchFamily="34" charset="0"/>
                  </a:rPr>
                  <a:t> </a:t>
                </a:r>
              </a:p>
              <a:p>
                <a:pPr>
                  <a:spcBef>
                    <a:spcPts val="500"/>
                  </a:spcBef>
                  <a:spcAft>
                    <a:spcPts val="500"/>
                  </a:spcAft>
                </a:pPr>
                <a:r>
                  <a:rPr lang="en-US" sz="1200" dirty="0">
                    <a:latin typeface="Aptos" panose="020B0004020202020204" pitchFamily="34" charset="0"/>
                  </a:rPr>
                  <a:t>Step2: check ACF/ PACF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200" dirty="0">
                    <a:latin typeface="Aptos" panose="020B0004020202020204" pitchFamily="34" charset="0"/>
                  </a:rPr>
                  <a:t> </a:t>
                </a:r>
              </a:p>
              <a:p>
                <a:pPr>
                  <a:spcBef>
                    <a:spcPts val="500"/>
                  </a:spcBef>
                  <a:spcAft>
                    <a:spcPts val="500"/>
                  </a:spcAft>
                </a:pPr>
                <a:r>
                  <a:rPr lang="en-US" sz="1200" dirty="0">
                    <a:latin typeface="Aptos" panose="020B0004020202020204" pitchFamily="34" charset="0"/>
                  </a:rPr>
                  <a:t>Step3: Fit AR(p)</a:t>
                </a:r>
              </a:p>
              <a:p>
                <a:pPr>
                  <a:spcBef>
                    <a:spcPts val="500"/>
                  </a:spcBef>
                  <a:spcAft>
                    <a:spcPts val="500"/>
                  </a:spcAft>
                </a:pPr>
                <a:r>
                  <a:rPr lang="en-US" sz="1200" dirty="0">
                    <a:latin typeface="Aptos" panose="020B0004020202020204" pitchFamily="34" charset="0"/>
                  </a:rPr>
                  <a:t>Step4: Fit MA(q)</a:t>
                </a:r>
              </a:p>
              <a:p>
                <a:pPr>
                  <a:spcBef>
                    <a:spcPts val="500"/>
                  </a:spcBef>
                  <a:spcAft>
                    <a:spcPts val="500"/>
                  </a:spcAft>
                </a:pPr>
                <a:r>
                  <a:rPr lang="en-US" sz="1200" dirty="0">
                    <a:latin typeface="Aptos" panose="020B0004020202020204" pitchFamily="34" charset="0"/>
                  </a:rPr>
                  <a:t>Step5: Fit ARIMA(p, d, q)</a:t>
                </a:r>
              </a:p>
              <a:p>
                <a:pPr>
                  <a:spcBef>
                    <a:spcPts val="500"/>
                  </a:spcBef>
                  <a:spcAft>
                    <a:spcPts val="500"/>
                  </a:spcAft>
                </a:pPr>
                <a:r>
                  <a:rPr lang="en-US" sz="1200" dirty="0">
                    <a:latin typeface="Aptos" panose="020B0004020202020204" pitchFamily="34" charset="0"/>
                  </a:rPr>
                  <a:t>Step6: What If Fit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200" dirty="0">
                    <a:latin typeface="Aptos" panose="020B0004020202020204" pitchFamily="34" charset="0"/>
                  </a:rPr>
                  <a:t> directly?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73505DF-5F7D-E50D-823B-6FD4F12B36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4664" y="1168428"/>
                <a:ext cx="2649451" cy="2154436"/>
              </a:xfrm>
              <a:prstGeom prst="rect">
                <a:avLst/>
              </a:prstGeom>
              <a:blipFill>
                <a:blip r:embed="rId4"/>
                <a:stretch>
                  <a:fillRect b="-1127"/>
                </a:stretch>
              </a:blip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9EB9FFF1-4516-9099-92BC-DF9D156A6E61}"/>
              </a:ext>
            </a:extLst>
          </p:cNvPr>
          <p:cNvSpPr txBox="1"/>
          <p:nvPr/>
        </p:nvSpPr>
        <p:spPr>
          <a:xfrm>
            <a:off x="65314" y="3135086"/>
            <a:ext cx="2792187" cy="375557"/>
          </a:xfrm>
          <a:prstGeom prst="rect">
            <a:avLst/>
          </a:prstGeom>
          <a:noFill/>
          <a:ln w="19050"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A06F07-11BA-1349-642F-E7E0CF8A0A05}"/>
              </a:ext>
            </a:extLst>
          </p:cNvPr>
          <p:cNvSpPr txBox="1"/>
          <p:nvPr/>
        </p:nvSpPr>
        <p:spPr>
          <a:xfrm>
            <a:off x="6482443" y="318699"/>
            <a:ext cx="252648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0" dirty="0">
                <a:solidFill>
                  <a:srgbClr val="202122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</a:rPr>
              <a:t>Time series of Oil Temperature</a:t>
            </a:r>
            <a:endParaRPr lang="en-US" sz="1200" dirty="0">
              <a:latin typeface="Aptos" panose="020B00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E42214-F078-610F-FDE5-EDE133DF77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4664" y="3322864"/>
            <a:ext cx="2649451" cy="1680865"/>
          </a:xfrm>
          <a:prstGeom prst="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6569927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260F2B7D-E91D-7A9A-C103-4BD432D84F46}"/>
              </a:ext>
            </a:extLst>
          </p:cNvPr>
          <p:cNvSpPr txBox="1"/>
          <p:nvPr/>
        </p:nvSpPr>
        <p:spPr>
          <a:xfrm>
            <a:off x="4851400" y="0"/>
            <a:ext cx="4292600" cy="307777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latin typeface="Aptos" panose="020B0004020202020204" pitchFamily="34" charset="0"/>
                <a:cs typeface="Times New Roman" panose="02020603050405020304" pitchFamily="18" charset="0"/>
              </a:rPr>
              <a:t>Models: ARIMA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8E87C54-C6F9-D6EA-165C-7224E94FC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14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73505DF-5F7D-E50D-823B-6FD4F12B36AD}"/>
                  </a:ext>
                </a:extLst>
              </p:cNvPr>
              <p:cNvSpPr txBox="1"/>
              <p:nvPr/>
            </p:nvSpPr>
            <p:spPr>
              <a:xfrm>
                <a:off x="6546992" y="311960"/>
                <a:ext cx="2584138" cy="276999"/>
              </a:xfrm>
              <a:prstGeom prst="rect">
                <a:avLst/>
              </a:prstGeom>
              <a:noFill/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500"/>
                  </a:spcBef>
                  <a:spcAft>
                    <a:spcPts val="500"/>
                  </a:spcAft>
                </a:pPr>
                <a:r>
                  <a:rPr lang="en-US" sz="1200" b="1" dirty="0">
                    <a:solidFill>
                      <a:schemeClr val="accent6">
                        <a:lumMod val="75000"/>
                      </a:schemeClr>
                    </a:solidFill>
                    <a:latin typeface="Aptos" panose="020B0004020202020204" pitchFamily="34" charset="0"/>
                  </a:rPr>
                  <a:t>differencing</a:t>
                </a:r>
                <a:r>
                  <a:rPr lang="en-US" sz="1200" dirty="0">
                    <a:latin typeface="Aptos" panose="020B0004020202020204" pitchFamily="34" charset="0"/>
                  </a:rPr>
                  <a:t> to get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200" dirty="0">
                    <a:latin typeface="Aptos" panose="020B0004020202020204" pitchFamily="34" charset="0"/>
                  </a:rPr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200" dirty="0">
                    <a:latin typeface="Aptos" panose="020B0004020202020204" pitchFamily="34" charset="0"/>
                  </a:rPr>
                  <a:t>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sz="1200" dirty="0">
                    <a:latin typeface="Aptos" panose="020B0004020202020204" pitchFamily="34" charset="0"/>
                  </a:rPr>
                  <a:t> 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73505DF-5F7D-E50D-823B-6FD4F12B36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6992" y="311960"/>
                <a:ext cx="2584138" cy="276999"/>
              </a:xfrm>
              <a:prstGeom prst="rect">
                <a:avLst/>
              </a:prstGeom>
              <a:blipFill>
                <a:blip r:embed="rId3"/>
                <a:stretch>
                  <a:fillRect b="-12500"/>
                </a:stretch>
              </a:blip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C8FB7E8C-0D81-E73E-9D89-7F6B196798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1072" y="2832562"/>
            <a:ext cx="3742928" cy="231093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417464A-7CCA-85F1-30EB-48A6083DFF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" y="153162"/>
            <a:ext cx="4041321" cy="249516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1525942-BBC2-7D7D-99CF-688C9E90958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2648331"/>
            <a:ext cx="4041321" cy="249516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250F0DB-4054-CCD2-CAB8-8ECF657AE2E5}"/>
              </a:ext>
            </a:extLst>
          </p:cNvPr>
          <p:cNvSpPr txBox="1"/>
          <p:nvPr/>
        </p:nvSpPr>
        <p:spPr>
          <a:xfrm>
            <a:off x="1845129" y="4034961"/>
            <a:ext cx="13552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  <a:latin typeface="Aptos" panose="020B0004020202020204" pitchFamily="34" charset="0"/>
              </a:rPr>
              <a:t>AR(p = 8)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FC87024-CB77-64B5-8BDF-4C83888BE5F1}"/>
              </a:ext>
            </a:extLst>
          </p:cNvPr>
          <p:cNvSpPr txBox="1"/>
          <p:nvPr/>
        </p:nvSpPr>
        <p:spPr>
          <a:xfrm>
            <a:off x="1845129" y="913482"/>
            <a:ext cx="13552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  <a:latin typeface="Aptos" panose="020B0004020202020204" pitchFamily="34" charset="0"/>
              </a:rPr>
              <a:t>MA(q = 2)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CB7191-9229-31F8-9F3C-30910B86045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01072" y="585930"/>
            <a:ext cx="3717187" cy="229504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FD8F407-72F4-3666-CEFD-A7EA0D1227F6}"/>
              </a:ext>
            </a:extLst>
          </p:cNvPr>
          <p:cNvSpPr txBox="1"/>
          <p:nvPr/>
        </p:nvSpPr>
        <p:spPr>
          <a:xfrm>
            <a:off x="7103398" y="918007"/>
            <a:ext cx="13552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  <a:latin typeface="Aptos" panose="020B0004020202020204" pitchFamily="34" charset="0"/>
              </a:rPr>
              <a:t>Before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6CB814-6BEC-AFCB-B3C6-BB5FE2890A0B}"/>
              </a:ext>
            </a:extLst>
          </p:cNvPr>
          <p:cNvSpPr txBox="1"/>
          <p:nvPr/>
        </p:nvSpPr>
        <p:spPr>
          <a:xfrm>
            <a:off x="7103398" y="3316680"/>
            <a:ext cx="13552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  <a:latin typeface="Aptos" panose="020B0004020202020204" pitchFamily="34" charset="0"/>
              </a:rPr>
              <a:t>After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0CD77E4-C3FF-B5A8-7E84-8F26A74B6266}"/>
              </a:ext>
            </a:extLst>
          </p:cNvPr>
          <p:cNvSpPr txBox="1"/>
          <p:nvPr/>
        </p:nvSpPr>
        <p:spPr>
          <a:xfrm>
            <a:off x="2239635" y="565004"/>
            <a:ext cx="1640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Cut off at lag 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1FF0824-DB32-7671-7CFC-823FE4C3A3BD}"/>
              </a:ext>
            </a:extLst>
          </p:cNvPr>
          <p:cNvSpPr txBox="1"/>
          <p:nvPr/>
        </p:nvSpPr>
        <p:spPr>
          <a:xfrm>
            <a:off x="2239635" y="4230018"/>
            <a:ext cx="1640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Cut off at lag 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3143729-D458-4C8A-7787-66B1758AEBC0}"/>
                  </a:ext>
                </a:extLst>
              </p:cNvPr>
              <p:cNvSpPr txBox="1"/>
              <p:nvPr/>
            </p:nvSpPr>
            <p:spPr>
              <a:xfrm>
                <a:off x="7307885" y="3291218"/>
                <a:ext cx="115524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3143729-D458-4C8A-7787-66B1758AEB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7885" y="3291218"/>
                <a:ext cx="1155247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E1C8270-A2AF-1DDE-E090-723AAFBE9AC7}"/>
                  </a:ext>
                </a:extLst>
              </p:cNvPr>
              <p:cNvSpPr txBox="1"/>
              <p:nvPr/>
            </p:nvSpPr>
            <p:spPr>
              <a:xfrm>
                <a:off x="7548351" y="904348"/>
                <a:ext cx="91031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E1C8270-A2AF-1DDE-E090-723AAFBE9A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8351" y="904348"/>
                <a:ext cx="910319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078670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03362B-E3F2-CA43-42B5-E04C53136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039E46E-F407-DC18-DB45-B41CBD1453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06772"/>
            <a:ext cx="5124363" cy="163910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4EDCD8D-3AAB-2ADA-7020-912E7C0BD7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7439" y="0"/>
            <a:ext cx="4055559" cy="250396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D8307D1-2129-6298-18E4-A7FEA29E2682}"/>
              </a:ext>
            </a:extLst>
          </p:cNvPr>
          <p:cNvSpPr txBox="1"/>
          <p:nvPr/>
        </p:nvSpPr>
        <p:spPr>
          <a:xfrm>
            <a:off x="0" y="-208"/>
            <a:ext cx="1246045" cy="276999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  <a:latin typeface="Aptos" panose="020B0004020202020204" pitchFamily="34" charset="0"/>
              </a:rPr>
              <a:t>AR(p = 8)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36303BD-D3D0-8806-B41C-4FEA2E4107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79240" y="2901037"/>
            <a:ext cx="2891518" cy="178526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5668123-398C-9D70-7924-9A67B9A0FD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945878"/>
            <a:ext cx="2503401" cy="167949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179F1FA-67CC-A8D5-AF47-E89C2017ED7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11311" y="3611620"/>
            <a:ext cx="2514712" cy="154563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F5F5AD4-1E86-92DB-8A9E-742F8399756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13926" y="1945878"/>
            <a:ext cx="2654791" cy="163910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C8B63EC-DC08-C2AF-8204-307D7043389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17062" y="3522024"/>
            <a:ext cx="2648517" cy="163523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D8105623-56EF-9D57-CAA7-3B91192B990C}"/>
              </a:ext>
            </a:extLst>
          </p:cNvPr>
          <p:cNvSpPr txBox="1"/>
          <p:nvPr/>
        </p:nvSpPr>
        <p:spPr>
          <a:xfrm>
            <a:off x="1246045" y="-208"/>
            <a:ext cx="45842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ptos" panose="020B0004020202020204" pitchFamily="34" charset="0"/>
              </a:rPr>
              <a:t>model.fit1 &lt;- </a:t>
            </a:r>
            <a:r>
              <a:rPr lang="en-US" b="1" dirty="0" err="1">
                <a:latin typeface="Aptos" panose="020B0004020202020204" pitchFamily="34" charset="0"/>
              </a:rPr>
              <a:t>arima</a:t>
            </a:r>
            <a:r>
              <a:rPr lang="en-US" dirty="0">
                <a:latin typeface="Aptos" panose="020B0004020202020204" pitchFamily="34" charset="0"/>
              </a:rPr>
              <a:t>(Y, order=c(8, 0, 0))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D243A5F-362E-3AC1-94C9-684B940E33A9}"/>
              </a:ext>
            </a:extLst>
          </p:cNvPr>
          <p:cNvSpPr txBox="1"/>
          <p:nvPr/>
        </p:nvSpPr>
        <p:spPr>
          <a:xfrm>
            <a:off x="1755321" y="2571750"/>
            <a:ext cx="461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ptos" panose="020B0004020202020204" pitchFamily="34" charset="0"/>
              </a:rPr>
              <a:t>IID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9F8C9F8-352E-8A75-70B3-04051E488B38}"/>
              </a:ext>
            </a:extLst>
          </p:cNvPr>
          <p:cNvSpPr txBox="1"/>
          <p:nvPr/>
        </p:nvSpPr>
        <p:spPr>
          <a:xfrm>
            <a:off x="4046865" y="2756416"/>
            <a:ext cx="9316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ptos" panose="020B0004020202020204" pitchFamily="34" charset="0"/>
              </a:rPr>
              <a:t>Normal</a:t>
            </a:r>
          </a:p>
        </p:txBody>
      </p:sp>
    </p:spTree>
    <p:extLst>
      <p:ext uri="{BB962C8B-B14F-4D97-AF65-F5344CB8AC3E}">
        <p14:creationId xmlns:p14="http://schemas.microsoft.com/office/powerpoint/2010/main" val="35399634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CFD9A0-AA66-9FA9-CDA6-FCD1EE88C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16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B85157-F676-650F-F737-801C6D85A4D2}"/>
              </a:ext>
            </a:extLst>
          </p:cNvPr>
          <p:cNvSpPr txBox="1"/>
          <p:nvPr/>
        </p:nvSpPr>
        <p:spPr>
          <a:xfrm>
            <a:off x="0" y="1518"/>
            <a:ext cx="1355272" cy="276999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  <a:latin typeface="Aptos" panose="020B0004020202020204" pitchFamily="34" charset="0"/>
              </a:rPr>
              <a:t>MA(q = 2)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8AB58AC-0518-9757-730A-3C583960D8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8" y="247757"/>
            <a:ext cx="5381311" cy="138978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62BA643-0999-2753-6B9D-5057FA0815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0987" y="2466676"/>
            <a:ext cx="3151499" cy="194578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4ADB321-3380-CA34-C067-4A4C3D51FE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8" y="3246608"/>
            <a:ext cx="3070818" cy="189596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850BFA6-7588-4B07-EB0F-229F2D507EA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18" y="1701822"/>
            <a:ext cx="3070818" cy="197897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44EFC57-2899-AC0B-F290-B33FA5DBDFF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93218" y="1843841"/>
            <a:ext cx="2672487" cy="165003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60C6D03-DB46-CCEA-5EDD-959FDD582F7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93872" y="3493873"/>
            <a:ext cx="2671833" cy="164962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D214F90-D04C-A7D3-B8AC-3ECABAC606D2}"/>
              </a:ext>
            </a:extLst>
          </p:cNvPr>
          <p:cNvSpPr txBox="1"/>
          <p:nvPr/>
        </p:nvSpPr>
        <p:spPr>
          <a:xfrm>
            <a:off x="1716541" y="1518"/>
            <a:ext cx="45760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ptos" panose="020B0004020202020204" pitchFamily="34" charset="0"/>
              </a:rPr>
              <a:t>model.fit2 &lt;- </a:t>
            </a:r>
            <a:r>
              <a:rPr lang="en-US" b="1" dirty="0" err="1">
                <a:latin typeface="Aptos" panose="020B0004020202020204" pitchFamily="34" charset="0"/>
              </a:rPr>
              <a:t>arima</a:t>
            </a:r>
            <a:r>
              <a:rPr lang="en-US" dirty="0">
                <a:latin typeface="Aptos" panose="020B0004020202020204" pitchFamily="34" charset="0"/>
              </a:rPr>
              <a:t>(Y, order=c(0, 0, 2))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1BF205-4BFE-C879-F5C4-8D9E55323A20}"/>
              </a:ext>
            </a:extLst>
          </p:cNvPr>
          <p:cNvSpPr txBox="1"/>
          <p:nvPr/>
        </p:nvSpPr>
        <p:spPr>
          <a:xfrm>
            <a:off x="2049235" y="2339366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ptos" panose="020B0004020202020204" pitchFamily="34" charset="0"/>
              </a:rPr>
              <a:t>Not IID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29D014-030D-BD0E-15BD-68D6B38B16E6}"/>
              </a:ext>
            </a:extLst>
          </p:cNvPr>
          <p:cNvSpPr txBox="1"/>
          <p:nvPr/>
        </p:nvSpPr>
        <p:spPr>
          <a:xfrm>
            <a:off x="4572000" y="2691308"/>
            <a:ext cx="9316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ptos" panose="020B0004020202020204" pitchFamily="34" charset="0"/>
              </a:rPr>
              <a:t>Normal</a:t>
            </a:r>
          </a:p>
        </p:txBody>
      </p:sp>
    </p:spTree>
    <p:extLst>
      <p:ext uri="{BB962C8B-B14F-4D97-AF65-F5344CB8AC3E}">
        <p14:creationId xmlns:p14="http://schemas.microsoft.com/office/powerpoint/2010/main" val="39204189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CFD9A0-AA66-9FA9-CDA6-FCD1EE88C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17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B85157-F676-650F-F737-801C6D85A4D2}"/>
              </a:ext>
            </a:extLst>
          </p:cNvPr>
          <p:cNvSpPr txBox="1"/>
          <p:nvPr/>
        </p:nvSpPr>
        <p:spPr>
          <a:xfrm>
            <a:off x="0" y="13150"/>
            <a:ext cx="1355272" cy="276999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  <a:latin typeface="Aptos" panose="020B0004020202020204" pitchFamily="34" charset="0"/>
              </a:rPr>
              <a:t>ARIMA(p, d, q)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DA20664-3661-E6D5-A0C1-01809B03D8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794" y="317470"/>
            <a:ext cx="3051833" cy="1311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17DC1E6-55D2-D216-5F7C-FA50DD7BEE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5393" y="2358120"/>
            <a:ext cx="2981323" cy="18407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F701D0F-F78E-6963-4D2E-F6990BE448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822138"/>
            <a:ext cx="3015081" cy="201548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4FE0BE6-B137-7ECB-16A5-231D41B76D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3278476"/>
            <a:ext cx="3015081" cy="186155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320D063-8A71-4FA5-BF44-8C0BC051621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15081" y="1732302"/>
            <a:ext cx="2750312" cy="169808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5476787-F92B-F01C-6057-37B0B8FC4F6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15081" y="3441948"/>
            <a:ext cx="2750312" cy="169808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C78C883-D6D3-1A7F-24FB-26035B026319}"/>
              </a:ext>
            </a:extLst>
          </p:cNvPr>
          <p:cNvSpPr txBox="1"/>
          <p:nvPr/>
        </p:nvSpPr>
        <p:spPr>
          <a:xfrm>
            <a:off x="1507539" y="22854"/>
            <a:ext cx="55545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ptos" panose="020B0004020202020204" pitchFamily="34" charset="0"/>
              </a:rPr>
              <a:t>auto &lt;- </a:t>
            </a:r>
            <a:r>
              <a:rPr lang="en-US" b="1" dirty="0" err="1">
                <a:latin typeface="Aptos" panose="020B0004020202020204" pitchFamily="34" charset="0"/>
              </a:rPr>
              <a:t>auto.arima</a:t>
            </a:r>
            <a:r>
              <a:rPr lang="en-US" dirty="0">
                <a:latin typeface="Aptos" panose="020B0004020202020204" pitchFamily="34" charset="0"/>
              </a:rPr>
              <a:t>(Y, d=0, </a:t>
            </a:r>
            <a:r>
              <a:rPr lang="en-US" dirty="0" err="1">
                <a:latin typeface="Aptos" panose="020B0004020202020204" pitchFamily="34" charset="0"/>
              </a:rPr>
              <a:t>ic</a:t>
            </a:r>
            <a:r>
              <a:rPr lang="en-US" dirty="0">
                <a:latin typeface="Aptos" panose="020B0004020202020204" pitchFamily="34" charset="0"/>
              </a:rPr>
              <a:t>="</a:t>
            </a:r>
            <a:r>
              <a:rPr lang="en-US" dirty="0" err="1">
                <a:latin typeface="Aptos" panose="020B0004020202020204" pitchFamily="34" charset="0"/>
              </a:rPr>
              <a:t>aicc</a:t>
            </a:r>
            <a:r>
              <a:rPr lang="en-US" dirty="0">
                <a:latin typeface="Aptos" panose="020B0004020202020204" pitchFamily="34" charset="0"/>
              </a:rPr>
              <a:t>", trace=T)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9AEC556-C38C-99AE-D781-817749FB322E}"/>
              </a:ext>
            </a:extLst>
          </p:cNvPr>
          <p:cNvSpPr txBox="1"/>
          <p:nvPr/>
        </p:nvSpPr>
        <p:spPr>
          <a:xfrm>
            <a:off x="2062141" y="2460549"/>
            <a:ext cx="461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Aptos" panose="020B0004020202020204" pitchFamily="34" charset="0"/>
              </a:rPr>
              <a:t>IID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BAC1807-A21F-4322-24DB-E496A152F7C8}"/>
              </a:ext>
            </a:extLst>
          </p:cNvPr>
          <p:cNvSpPr txBox="1"/>
          <p:nvPr/>
        </p:nvSpPr>
        <p:spPr>
          <a:xfrm>
            <a:off x="4390237" y="2465601"/>
            <a:ext cx="9316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Aptos" panose="020B0004020202020204" pitchFamily="34" charset="0"/>
              </a:rPr>
              <a:t>Normal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94444C-E821-5619-D2BA-02BE845265CC}"/>
              </a:ext>
            </a:extLst>
          </p:cNvPr>
          <p:cNvSpPr txBox="1"/>
          <p:nvPr/>
        </p:nvSpPr>
        <p:spPr>
          <a:xfrm>
            <a:off x="138794" y="335067"/>
            <a:ext cx="1053191" cy="369332"/>
          </a:xfrm>
          <a:prstGeom prst="rect">
            <a:avLst/>
          </a:prstGeom>
          <a:noFill/>
          <a:ln w="12700"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97632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CFD9A0-AA66-9FA9-CDA6-FCD1EE88C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18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9B85157-F676-650F-F737-801C6D85A4D2}"/>
                  </a:ext>
                </a:extLst>
              </p:cNvPr>
              <p:cNvSpPr txBox="1"/>
              <p:nvPr/>
            </p:nvSpPr>
            <p:spPr>
              <a:xfrm>
                <a:off x="-1" y="7246"/>
                <a:ext cx="1502229" cy="276999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solidFill>
                      <a:srgbClr val="FF0000"/>
                    </a:solidFill>
                    <a:latin typeface="Aptos" panose="020B0004020202020204" pitchFamily="34" charset="0"/>
                  </a:rPr>
                  <a:t>ARIMA(p, d, q)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200" dirty="0">
                    <a:latin typeface="Aptos" panose="020B0004020202020204" pitchFamily="34" charset="0"/>
                  </a:rPr>
                  <a:t> </a:t>
                </a:r>
                <a:endParaRPr lang="en-US" sz="1200" dirty="0">
                  <a:solidFill>
                    <a:srgbClr val="FF0000"/>
                  </a:solidFill>
                  <a:latin typeface="Aptos" panose="020B0004020202020204" pitchFamily="34" charset="0"/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9B85157-F676-650F-F737-801C6D85A4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7246"/>
                <a:ext cx="1502229" cy="276999"/>
              </a:xfrm>
              <a:prstGeom prst="rect">
                <a:avLst/>
              </a:prstGeom>
              <a:blipFill>
                <a:blip r:embed="rId2"/>
                <a:stretch>
                  <a:fillRect b="-15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28B24775-036F-8630-33F3-74EF1C178E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957" y="275284"/>
            <a:ext cx="3300084" cy="145701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813EC76-D45A-3FFF-0CE0-62B8BF799E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4963" y="2216085"/>
            <a:ext cx="3332389" cy="205746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64D1F37-82B8-779A-247E-448575B3FC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845096"/>
            <a:ext cx="2851792" cy="183472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3CF0E4B-1146-FF20-A4F3-50D1D770E9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3386287"/>
            <a:ext cx="2846083" cy="175721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97725DD-2C63-70B8-85D9-A18DD35D2DF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18338" y="1845096"/>
            <a:ext cx="2686625" cy="166895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61D22D1-F2DE-85AD-C39A-3319C4408D8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51792" y="3514050"/>
            <a:ext cx="2653171" cy="1638106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D0BF85B1-B007-8A36-CB06-ADE63440BE71}"/>
              </a:ext>
            </a:extLst>
          </p:cNvPr>
          <p:cNvSpPr txBox="1"/>
          <p:nvPr/>
        </p:nvSpPr>
        <p:spPr>
          <a:xfrm>
            <a:off x="1502229" y="22324"/>
            <a:ext cx="5086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ptos" panose="020B0004020202020204" pitchFamily="34" charset="0"/>
              </a:rPr>
              <a:t>OT.fit1 &lt;- </a:t>
            </a:r>
            <a:r>
              <a:rPr lang="en-US" b="1" dirty="0" err="1">
                <a:latin typeface="Aptos" panose="020B0004020202020204" pitchFamily="34" charset="0"/>
              </a:rPr>
              <a:t>auto.arima</a:t>
            </a:r>
            <a:r>
              <a:rPr lang="en-US" dirty="0">
                <a:latin typeface="Aptos" panose="020B0004020202020204" pitchFamily="34" charset="0"/>
              </a:rPr>
              <a:t>(OT, trace=T, </a:t>
            </a:r>
            <a:r>
              <a:rPr lang="en-US" dirty="0" err="1">
                <a:latin typeface="Aptos" panose="020B0004020202020204" pitchFamily="34" charset="0"/>
              </a:rPr>
              <a:t>ic</a:t>
            </a:r>
            <a:r>
              <a:rPr lang="en-US" dirty="0">
                <a:latin typeface="Aptos" panose="020B0004020202020204" pitchFamily="34" charset="0"/>
              </a:rPr>
              <a:t>="</a:t>
            </a:r>
            <a:r>
              <a:rPr lang="en-US" dirty="0" err="1">
                <a:latin typeface="Aptos" panose="020B0004020202020204" pitchFamily="34" charset="0"/>
              </a:rPr>
              <a:t>aicc</a:t>
            </a:r>
            <a:r>
              <a:rPr lang="en-US" dirty="0">
                <a:latin typeface="Aptos" panose="020B0004020202020204" pitchFamily="34" charset="0"/>
              </a:rPr>
              <a:t>")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91FD4B1-F637-0800-D09B-2FA6FDFBE61A}"/>
              </a:ext>
            </a:extLst>
          </p:cNvPr>
          <p:cNvSpPr txBox="1"/>
          <p:nvPr/>
        </p:nvSpPr>
        <p:spPr>
          <a:xfrm>
            <a:off x="1758816" y="2494907"/>
            <a:ext cx="461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Aptos" panose="020B0004020202020204" pitchFamily="34" charset="0"/>
              </a:rPr>
              <a:t>IID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A856E81-B982-B56D-BA98-3D38832B3105}"/>
              </a:ext>
            </a:extLst>
          </p:cNvPr>
          <p:cNvSpPr txBox="1"/>
          <p:nvPr/>
        </p:nvSpPr>
        <p:spPr>
          <a:xfrm>
            <a:off x="4106167" y="2593130"/>
            <a:ext cx="9316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Aptos" panose="020B0004020202020204" pitchFamily="34" charset="0"/>
              </a:rPr>
              <a:t>Normal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4B0AAEB-DD70-B7F5-098B-E0B25DFF8257}"/>
              </a:ext>
            </a:extLst>
          </p:cNvPr>
          <p:cNvSpPr txBox="1"/>
          <p:nvPr/>
        </p:nvSpPr>
        <p:spPr>
          <a:xfrm>
            <a:off x="138794" y="319070"/>
            <a:ext cx="1053191" cy="369332"/>
          </a:xfrm>
          <a:prstGeom prst="rect">
            <a:avLst/>
          </a:prstGeom>
          <a:noFill/>
          <a:ln w="12700"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67426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CFD9A0-AA66-9FA9-CDA6-FCD1EE88C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19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A7191EE3-78F7-515B-EE58-F67E01B6467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90391882"/>
                  </p:ext>
                </p:extLst>
              </p:nvPr>
            </p:nvGraphicFramePr>
            <p:xfrm>
              <a:off x="1285759" y="2314194"/>
              <a:ext cx="6096000" cy="1854200"/>
            </p:xfrm>
            <a:graphic>
              <a:graphicData uri="http://schemas.openxmlformats.org/drawingml/2006/table">
                <a:tbl>
                  <a:tblPr firstRow="1" bandRow="1">
                    <a:tableStyleId>{C083E6E3-FA7D-4D7B-A595-EF9225AFEA82}</a:tableStyleId>
                  </a:tblPr>
                  <a:tblGrid>
                    <a:gridCol w="1524000">
                      <a:extLst>
                        <a:ext uri="{9D8B030D-6E8A-4147-A177-3AD203B41FA5}">
                          <a16:colId xmlns:a16="http://schemas.microsoft.com/office/drawing/2014/main" val="390806007"/>
                        </a:ext>
                      </a:extLst>
                    </a:gridCol>
                    <a:gridCol w="1524000">
                      <a:extLst>
                        <a:ext uri="{9D8B030D-6E8A-4147-A177-3AD203B41FA5}">
                          <a16:colId xmlns:a16="http://schemas.microsoft.com/office/drawing/2014/main" val="3702086466"/>
                        </a:ext>
                      </a:extLst>
                    </a:gridCol>
                    <a:gridCol w="1524000">
                      <a:extLst>
                        <a:ext uri="{9D8B030D-6E8A-4147-A177-3AD203B41FA5}">
                          <a16:colId xmlns:a16="http://schemas.microsoft.com/office/drawing/2014/main" val="1477408788"/>
                        </a:ext>
                      </a:extLst>
                    </a:gridCol>
                    <a:gridCol w="1524000">
                      <a:extLst>
                        <a:ext uri="{9D8B030D-6E8A-4147-A177-3AD203B41FA5}">
                          <a16:colId xmlns:a16="http://schemas.microsoft.com/office/drawing/2014/main" val="202756437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200" dirty="0">
                              <a:latin typeface="Aptos" panose="020B0004020202020204" pitchFamily="34" charset="0"/>
                            </a:rPr>
                            <a:t>Model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latin typeface="Aptos" panose="020B0004020202020204" pitchFamily="34" charset="0"/>
                            </a:rPr>
                            <a:t>AIC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latin typeface="Aptos" panose="020B0004020202020204" pitchFamily="34" charset="0"/>
                            </a:rPr>
                            <a:t>BIC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err="1">
                              <a:latin typeface="Aptos" panose="020B0004020202020204" pitchFamily="34" charset="0"/>
                            </a:rPr>
                            <a:t>AICc</a:t>
                          </a:r>
                          <a:endParaRPr lang="en-US" sz="1200" dirty="0">
                            <a:latin typeface="Aptos" panose="020B00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350521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200" dirty="0">
                              <a:solidFill>
                                <a:srgbClr val="FF0000"/>
                              </a:solidFill>
                              <a:latin typeface="Aptos" panose="020B0004020202020204" pitchFamily="34" charset="0"/>
                            </a:rPr>
                            <a:t>AR(p = 8) on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200" dirty="0">
                              <a:latin typeface="Aptos" panose="020B0004020202020204" pitchFamily="34" charset="0"/>
                            </a:rPr>
                            <a:t> </a:t>
                          </a:r>
                          <a:endParaRPr lang="en-US" sz="1200" dirty="0">
                            <a:solidFill>
                              <a:srgbClr val="FF0000"/>
                            </a:solidFill>
                            <a:latin typeface="Aptos" panose="020B00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latin typeface="Aptos" panose="020B0004020202020204" pitchFamily="34" charset="0"/>
                            </a:rPr>
                            <a:t>2.4394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latin typeface="Aptos" panose="020B0004020202020204" pitchFamily="34" charset="0"/>
                            </a:rPr>
                            <a:t>2.5026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latin typeface="Aptos" panose="020B0004020202020204" pitchFamily="34" charset="0"/>
                            </a:rPr>
                            <a:t>2.4322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453241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200" dirty="0">
                              <a:solidFill>
                                <a:srgbClr val="FF0000"/>
                              </a:solidFill>
                              <a:latin typeface="Aptos" panose="020B0004020202020204" pitchFamily="34" charset="0"/>
                            </a:rPr>
                            <a:t>MA(q = 2) on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200" dirty="0">
                              <a:latin typeface="Aptos" panose="020B0004020202020204" pitchFamily="34" charset="0"/>
                            </a:rPr>
                            <a:t> </a:t>
                          </a:r>
                          <a:endParaRPr lang="en-US" sz="1200" dirty="0">
                            <a:solidFill>
                              <a:srgbClr val="FF0000"/>
                            </a:solidFill>
                            <a:latin typeface="Aptos" panose="020B00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latin typeface="Aptos" panose="020B0004020202020204" pitchFamily="34" charset="0"/>
                            </a:rPr>
                            <a:t>2.4855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latin typeface="Aptos" panose="020B0004020202020204" pitchFamily="34" charset="0"/>
                            </a:rPr>
                            <a:t>2.5108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latin typeface="Aptos" panose="020B0004020202020204" pitchFamily="34" charset="0"/>
                            </a:rPr>
                            <a:t>2.4952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563110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200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Aptos" panose="020B0004020202020204" pitchFamily="34" charset="0"/>
                            </a:rPr>
                            <a:t>ARIMA(2,0,2) on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200" dirty="0">
                              <a:latin typeface="Aptos" panose="020B0004020202020204" pitchFamily="34" charset="0"/>
                            </a:rPr>
                            <a:t> </a:t>
                          </a:r>
                          <a:endParaRPr lang="en-US" sz="1200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Aptos" panose="020B00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latin typeface="Aptos" panose="020B0004020202020204" pitchFamily="34" charset="0"/>
                            </a:rPr>
                            <a:t>2.4354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latin typeface="Aptos" panose="020B0004020202020204" pitchFamily="34" charset="0"/>
                            </a:rPr>
                            <a:t>2.4670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latin typeface="Aptos" panose="020B0004020202020204" pitchFamily="34" charset="0"/>
                            </a:rPr>
                            <a:t>2.4421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3814198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Aptos" panose="020B0004020202020204" pitchFamily="34" charset="0"/>
                            </a:rPr>
                            <a:t>ARIMA(2,1,2) on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200" dirty="0">
                              <a:latin typeface="Aptos" panose="020B0004020202020204" pitchFamily="34" charset="0"/>
                            </a:rPr>
                            <a:t> </a:t>
                          </a:r>
                          <a:endParaRPr lang="en-US" sz="1200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Aptos" panose="020B00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latin typeface="Aptos" panose="020B0004020202020204" pitchFamily="34" charset="0"/>
                            </a:rPr>
                            <a:t>2.4354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latin typeface="Aptos" panose="020B0004020202020204" pitchFamily="34" charset="0"/>
                            </a:rPr>
                            <a:t>2.4670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latin typeface="Aptos" panose="020B0004020202020204" pitchFamily="34" charset="0"/>
                            </a:rPr>
                            <a:t>2.4421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7223213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A7191EE3-78F7-515B-EE58-F67E01B6467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90391882"/>
                  </p:ext>
                </p:extLst>
              </p:nvPr>
            </p:nvGraphicFramePr>
            <p:xfrm>
              <a:off x="1285759" y="2314194"/>
              <a:ext cx="6096000" cy="1854200"/>
            </p:xfrm>
            <a:graphic>
              <a:graphicData uri="http://schemas.openxmlformats.org/drawingml/2006/table">
                <a:tbl>
                  <a:tblPr firstRow="1" bandRow="1">
                    <a:tableStyleId>{C083E6E3-FA7D-4D7B-A595-EF9225AFEA82}</a:tableStyleId>
                  </a:tblPr>
                  <a:tblGrid>
                    <a:gridCol w="1524000">
                      <a:extLst>
                        <a:ext uri="{9D8B030D-6E8A-4147-A177-3AD203B41FA5}">
                          <a16:colId xmlns:a16="http://schemas.microsoft.com/office/drawing/2014/main" val="390806007"/>
                        </a:ext>
                      </a:extLst>
                    </a:gridCol>
                    <a:gridCol w="1524000">
                      <a:extLst>
                        <a:ext uri="{9D8B030D-6E8A-4147-A177-3AD203B41FA5}">
                          <a16:colId xmlns:a16="http://schemas.microsoft.com/office/drawing/2014/main" val="3702086466"/>
                        </a:ext>
                      </a:extLst>
                    </a:gridCol>
                    <a:gridCol w="1524000">
                      <a:extLst>
                        <a:ext uri="{9D8B030D-6E8A-4147-A177-3AD203B41FA5}">
                          <a16:colId xmlns:a16="http://schemas.microsoft.com/office/drawing/2014/main" val="1477408788"/>
                        </a:ext>
                      </a:extLst>
                    </a:gridCol>
                    <a:gridCol w="1524000">
                      <a:extLst>
                        <a:ext uri="{9D8B030D-6E8A-4147-A177-3AD203B41FA5}">
                          <a16:colId xmlns:a16="http://schemas.microsoft.com/office/drawing/2014/main" val="202756437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200" dirty="0">
                              <a:latin typeface="Aptos" panose="020B0004020202020204" pitchFamily="34" charset="0"/>
                            </a:rPr>
                            <a:t>Model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latin typeface="Aptos" panose="020B0004020202020204" pitchFamily="34" charset="0"/>
                            </a:rPr>
                            <a:t>AIC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latin typeface="Aptos" panose="020B0004020202020204" pitchFamily="34" charset="0"/>
                            </a:rPr>
                            <a:t>BIC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err="1">
                              <a:latin typeface="Aptos" panose="020B0004020202020204" pitchFamily="34" charset="0"/>
                            </a:rPr>
                            <a:t>AICc</a:t>
                          </a:r>
                          <a:endParaRPr lang="en-US" sz="1200" dirty="0">
                            <a:latin typeface="Aptos" panose="020B00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350521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t="-101639" r="-300800" b="-3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latin typeface="Aptos" panose="020B0004020202020204" pitchFamily="34" charset="0"/>
                            </a:rPr>
                            <a:t>2.4394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latin typeface="Aptos" panose="020B0004020202020204" pitchFamily="34" charset="0"/>
                            </a:rPr>
                            <a:t>2.5026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latin typeface="Aptos" panose="020B0004020202020204" pitchFamily="34" charset="0"/>
                            </a:rPr>
                            <a:t>2.4322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453241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t="-201639" r="-300800" b="-2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latin typeface="Aptos" panose="020B0004020202020204" pitchFamily="34" charset="0"/>
                            </a:rPr>
                            <a:t>2.4855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latin typeface="Aptos" panose="020B0004020202020204" pitchFamily="34" charset="0"/>
                            </a:rPr>
                            <a:t>2.5108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latin typeface="Aptos" panose="020B0004020202020204" pitchFamily="34" charset="0"/>
                            </a:rPr>
                            <a:t>2.4952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563110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t="-301639" r="-300800" b="-1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latin typeface="Aptos" panose="020B0004020202020204" pitchFamily="34" charset="0"/>
                            </a:rPr>
                            <a:t>2.4354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latin typeface="Aptos" panose="020B0004020202020204" pitchFamily="34" charset="0"/>
                            </a:rPr>
                            <a:t>2.4670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latin typeface="Aptos" panose="020B0004020202020204" pitchFamily="34" charset="0"/>
                            </a:rPr>
                            <a:t>2.4421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3814198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t="-401639" r="-300800" b="-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latin typeface="Aptos" panose="020B0004020202020204" pitchFamily="34" charset="0"/>
                            </a:rPr>
                            <a:t>2.4354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latin typeface="Aptos" panose="020B0004020202020204" pitchFamily="34" charset="0"/>
                            </a:rPr>
                            <a:t>2.4670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latin typeface="Aptos" panose="020B0004020202020204" pitchFamily="34" charset="0"/>
                            </a:rPr>
                            <a:t>2.4421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7223213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CD2FDE44-E7AA-E3BD-E24F-ABD4F586EFBE}"/>
              </a:ext>
            </a:extLst>
          </p:cNvPr>
          <p:cNvSpPr txBox="1"/>
          <p:nvPr/>
        </p:nvSpPr>
        <p:spPr>
          <a:xfrm>
            <a:off x="718457" y="971307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Aptos" panose="020B0004020202020204" pitchFamily="34" charset="0"/>
              </a:rPr>
              <a:t>auto &lt;- </a:t>
            </a:r>
            <a:r>
              <a:rPr lang="en-US" sz="1200" dirty="0" err="1">
                <a:latin typeface="Aptos" panose="020B0004020202020204" pitchFamily="34" charset="0"/>
              </a:rPr>
              <a:t>auto.arima</a:t>
            </a:r>
            <a:r>
              <a:rPr lang="en-US" sz="1200" dirty="0">
                <a:latin typeface="Aptos" panose="020B0004020202020204" pitchFamily="34" charset="0"/>
              </a:rPr>
              <a:t>(Y, d=0, </a:t>
            </a:r>
            <a:r>
              <a:rPr lang="en-US" sz="1200" dirty="0" err="1">
                <a:latin typeface="Aptos" panose="020B0004020202020204" pitchFamily="34" charset="0"/>
              </a:rPr>
              <a:t>ic</a:t>
            </a:r>
            <a:r>
              <a:rPr lang="en-US" sz="1200" dirty="0">
                <a:latin typeface="Aptos" panose="020B0004020202020204" pitchFamily="34" charset="0"/>
              </a:rPr>
              <a:t>="</a:t>
            </a:r>
            <a:r>
              <a:rPr lang="en-US" sz="1200" dirty="0" err="1">
                <a:latin typeface="Aptos" panose="020B0004020202020204" pitchFamily="34" charset="0"/>
              </a:rPr>
              <a:t>aicc</a:t>
            </a:r>
            <a:r>
              <a:rPr lang="en-US" sz="1200" dirty="0">
                <a:latin typeface="Aptos" panose="020B0004020202020204" pitchFamily="34" charset="0"/>
              </a:rPr>
              <a:t>", trace=T)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E2056C-C769-5CCC-4E14-B98C84C27EB8}"/>
              </a:ext>
            </a:extLst>
          </p:cNvPr>
          <p:cNvSpPr txBox="1"/>
          <p:nvPr/>
        </p:nvSpPr>
        <p:spPr>
          <a:xfrm>
            <a:off x="718457" y="1262217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Aptos" panose="020B0004020202020204" pitchFamily="34" charset="0"/>
              </a:rPr>
              <a:t>auto2 &lt;- </a:t>
            </a:r>
            <a:r>
              <a:rPr lang="en-US" sz="1200" dirty="0" err="1">
                <a:latin typeface="Aptos" panose="020B0004020202020204" pitchFamily="34" charset="0"/>
              </a:rPr>
              <a:t>auto.arima</a:t>
            </a:r>
            <a:r>
              <a:rPr lang="en-US" sz="1200" dirty="0">
                <a:latin typeface="Aptos" panose="020B0004020202020204" pitchFamily="34" charset="0"/>
              </a:rPr>
              <a:t>(Y, </a:t>
            </a:r>
            <a:r>
              <a:rPr lang="en-US" sz="1200" dirty="0" err="1">
                <a:latin typeface="Aptos" panose="020B0004020202020204" pitchFamily="34" charset="0"/>
              </a:rPr>
              <a:t>ic</a:t>
            </a:r>
            <a:r>
              <a:rPr lang="en-US" sz="1200" dirty="0">
                <a:latin typeface="Aptos" panose="020B0004020202020204" pitchFamily="34" charset="0"/>
              </a:rPr>
              <a:t>="</a:t>
            </a:r>
            <a:r>
              <a:rPr lang="en-US" sz="1200" dirty="0" err="1">
                <a:latin typeface="Aptos" panose="020B0004020202020204" pitchFamily="34" charset="0"/>
              </a:rPr>
              <a:t>aicc</a:t>
            </a:r>
            <a:r>
              <a:rPr lang="en-US" sz="1200" dirty="0">
                <a:latin typeface="Aptos" panose="020B0004020202020204" pitchFamily="34" charset="0"/>
              </a:rPr>
              <a:t>", trace=T)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D59C18-C420-4126-E673-7055F37B8939}"/>
              </a:ext>
            </a:extLst>
          </p:cNvPr>
          <p:cNvSpPr txBox="1"/>
          <p:nvPr/>
        </p:nvSpPr>
        <p:spPr>
          <a:xfrm>
            <a:off x="718457" y="366120"/>
            <a:ext cx="458424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Aptos" panose="020B0004020202020204" pitchFamily="34" charset="0"/>
              </a:rPr>
              <a:t>model.fit1 &lt;- </a:t>
            </a:r>
            <a:r>
              <a:rPr lang="en-US" sz="1200" dirty="0" err="1">
                <a:latin typeface="Aptos" panose="020B0004020202020204" pitchFamily="34" charset="0"/>
              </a:rPr>
              <a:t>arima</a:t>
            </a:r>
            <a:r>
              <a:rPr lang="en-US" sz="1200" dirty="0">
                <a:latin typeface="Aptos" panose="020B0004020202020204" pitchFamily="34" charset="0"/>
              </a:rPr>
              <a:t>(Y, order=c(8, 0, 0))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6CBE0A-D3D7-D9D4-F2B0-8A3F03A8AC4C}"/>
              </a:ext>
            </a:extLst>
          </p:cNvPr>
          <p:cNvSpPr txBox="1"/>
          <p:nvPr/>
        </p:nvSpPr>
        <p:spPr>
          <a:xfrm>
            <a:off x="726621" y="644186"/>
            <a:ext cx="457608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Aptos" panose="020B0004020202020204" pitchFamily="34" charset="0"/>
              </a:rPr>
              <a:t>model.fit2 &lt;- </a:t>
            </a:r>
            <a:r>
              <a:rPr lang="en-US" sz="1200" dirty="0" err="1">
                <a:latin typeface="Aptos" panose="020B0004020202020204" pitchFamily="34" charset="0"/>
              </a:rPr>
              <a:t>arima</a:t>
            </a:r>
            <a:r>
              <a:rPr lang="en-US" sz="1200" dirty="0">
                <a:latin typeface="Aptos" panose="020B0004020202020204" pitchFamily="34" charset="0"/>
              </a:rPr>
              <a:t>(Y, order=c(0, 0, 2))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C75F08C-35D3-3870-163A-5B2C78500395}"/>
              </a:ext>
            </a:extLst>
          </p:cNvPr>
          <p:cNvSpPr txBox="1"/>
          <p:nvPr/>
        </p:nvSpPr>
        <p:spPr>
          <a:xfrm>
            <a:off x="730703" y="1629586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Aptos" panose="020B0004020202020204" pitchFamily="34" charset="0"/>
              </a:rPr>
              <a:t>OT.fit1 &lt;- </a:t>
            </a:r>
            <a:r>
              <a:rPr lang="en-US" sz="1200" dirty="0" err="1">
                <a:latin typeface="Aptos" panose="020B0004020202020204" pitchFamily="34" charset="0"/>
              </a:rPr>
              <a:t>auto.arima</a:t>
            </a:r>
            <a:r>
              <a:rPr lang="en-US" sz="1200" dirty="0">
                <a:latin typeface="Aptos" panose="020B0004020202020204" pitchFamily="34" charset="0"/>
              </a:rPr>
              <a:t>(OT, trace=T, </a:t>
            </a:r>
            <a:r>
              <a:rPr lang="en-US" sz="1200" dirty="0" err="1">
                <a:latin typeface="Aptos" panose="020B0004020202020204" pitchFamily="34" charset="0"/>
              </a:rPr>
              <a:t>ic</a:t>
            </a:r>
            <a:r>
              <a:rPr lang="en-US" sz="1200" dirty="0">
                <a:latin typeface="Aptos" panose="020B0004020202020204" pitchFamily="34" charset="0"/>
              </a:rPr>
              <a:t>="</a:t>
            </a:r>
            <a:r>
              <a:rPr lang="en-US" sz="1200" dirty="0" err="1">
                <a:latin typeface="Aptos" panose="020B0004020202020204" pitchFamily="34" charset="0"/>
              </a:rPr>
              <a:t>aicc</a:t>
            </a:r>
            <a:r>
              <a:rPr lang="en-US" sz="1200" dirty="0">
                <a:latin typeface="Aptos" panose="020B0004020202020204" pitchFamily="34" charset="0"/>
              </a:rPr>
              <a:t>")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BEA019-9100-C260-7F00-92EBE12AE7C2}"/>
              </a:ext>
            </a:extLst>
          </p:cNvPr>
          <p:cNvSpPr txBox="1"/>
          <p:nvPr/>
        </p:nvSpPr>
        <p:spPr>
          <a:xfrm>
            <a:off x="4333759" y="430153"/>
            <a:ext cx="3879513" cy="1384995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200" dirty="0">
                <a:latin typeface="Aptos" panose="020B0004020202020204" pitchFamily="34" charset="0"/>
              </a:rPr>
              <a:t>num &lt;- length(OT)</a:t>
            </a:r>
          </a:p>
          <a:p>
            <a:r>
              <a:rPr lang="en-US" sz="1200" dirty="0">
                <a:latin typeface="Aptos" panose="020B0004020202020204" pitchFamily="34" charset="0"/>
              </a:rPr>
              <a:t># AIC</a:t>
            </a:r>
          </a:p>
          <a:p>
            <a:r>
              <a:rPr lang="en-US" sz="1200" dirty="0">
                <a:latin typeface="Aptos" panose="020B0004020202020204" pitchFamily="34" charset="0"/>
              </a:rPr>
              <a:t>AIC(OT.fit1)/num - log(2*pi)</a:t>
            </a:r>
          </a:p>
          <a:p>
            <a:r>
              <a:rPr lang="en-US" sz="1200" dirty="0">
                <a:latin typeface="Aptos" panose="020B0004020202020204" pitchFamily="34" charset="0"/>
              </a:rPr>
              <a:t># BIC</a:t>
            </a:r>
          </a:p>
          <a:p>
            <a:r>
              <a:rPr lang="en-US" sz="1200" dirty="0">
                <a:latin typeface="Aptos" panose="020B0004020202020204" pitchFamily="34" charset="0"/>
              </a:rPr>
              <a:t>AIC(OT.fit1, k=log(num))/num - log(2*pi)</a:t>
            </a:r>
          </a:p>
          <a:p>
            <a:r>
              <a:rPr lang="en-US" sz="1200" dirty="0">
                <a:latin typeface="Aptos" panose="020B0004020202020204" pitchFamily="34" charset="0"/>
              </a:rPr>
              <a:t># </a:t>
            </a:r>
            <a:r>
              <a:rPr lang="en-US" sz="1200" dirty="0" err="1">
                <a:latin typeface="Aptos" panose="020B0004020202020204" pitchFamily="34" charset="0"/>
              </a:rPr>
              <a:t>AICc</a:t>
            </a:r>
            <a:endParaRPr lang="en-US" sz="1200" dirty="0">
              <a:latin typeface="Aptos" panose="020B0004020202020204" pitchFamily="34" charset="0"/>
            </a:endParaRPr>
          </a:p>
          <a:p>
            <a:r>
              <a:rPr lang="en-US" sz="1200" dirty="0">
                <a:latin typeface="Aptos" panose="020B0004020202020204" pitchFamily="34" charset="0"/>
              </a:rPr>
              <a:t>log(sum(resid(OT.fit1)^2)/num) + (num +5)/(num -5 -2)</a:t>
            </a:r>
          </a:p>
        </p:txBody>
      </p:sp>
    </p:spTree>
    <p:extLst>
      <p:ext uri="{BB962C8B-B14F-4D97-AF65-F5344CB8AC3E}">
        <p14:creationId xmlns:p14="http://schemas.microsoft.com/office/powerpoint/2010/main" val="36810587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926B7F53-16E3-33D5-39E7-5837A2C7647C}"/>
              </a:ext>
            </a:extLst>
          </p:cNvPr>
          <p:cNvSpPr txBox="1"/>
          <p:nvPr/>
        </p:nvSpPr>
        <p:spPr>
          <a:xfrm>
            <a:off x="4851400" y="0"/>
            <a:ext cx="4292600" cy="30777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latin typeface="Aptos" panose="020B0004020202020204" pitchFamily="34" charset="0"/>
                <a:cs typeface="Times New Roman" panose="02020603050405020304" pitchFamily="18" charset="0"/>
              </a:rPr>
              <a:t>Conclusion 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9879FD-5873-5462-5BED-6FE17D592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20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B7EB00B-507C-3E26-A6AE-FEC74C37A20B}"/>
              </a:ext>
            </a:extLst>
          </p:cNvPr>
          <p:cNvSpPr txBox="1"/>
          <p:nvPr/>
        </p:nvSpPr>
        <p:spPr>
          <a:xfrm>
            <a:off x="511850" y="987698"/>
            <a:ext cx="76111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i="1" dirty="0">
                <a:latin typeface="Aptos" panose="020B0004020202020204" pitchFamily="34" charset="0"/>
              </a:rPr>
              <a:t>Linear Regression Models</a:t>
            </a:r>
            <a:r>
              <a:rPr lang="en-US" sz="1200" dirty="0">
                <a:latin typeface="Aptos" panose="020B0004020202020204" pitchFamily="34" charset="0"/>
              </a:rPr>
              <a:t> </a:t>
            </a:r>
          </a:p>
          <a:p>
            <a:r>
              <a:rPr lang="en-US" sz="1200" dirty="0">
                <a:latin typeface="Aptos" panose="020B0004020202020204" pitchFamily="34" charset="0"/>
              </a:rPr>
              <a:t>Residual Assumption of IID is not satisfied, add more feature couldn’t improve the model performance obviously, </a:t>
            </a:r>
          </a:p>
          <a:p>
            <a:r>
              <a:rPr lang="en-US" sz="1200" dirty="0">
                <a:latin typeface="Aptos" panose="020B0004020202020204" pitchFamily="34" charset="0"/>
              </a:rPr>
              <a:t>so linear regression model may not a good choice.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B0A0569-69E6-0DA6-936F-6C28D265A40F}"/>
                  </a:ext>
                </a:extLst>
              </p:cNvPr>
              <p:cNvSpPr txBox="1"/>
              <p:nvPr/>
            </p:nvSpPr>
            <p:spPr>
              <a:xfrm>
                <a:off x="469526" y="1759952"/>
                <a:ext cx="6035907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b="1" i="1" dirty="0">
                    <a:latin typeface="Aptos" panose="020B0004020202020204" pitchFamily="34" charset="0"/>
                  </a:rPr>
                  <a:t>ARIMA</a:t>
                </a:r>
              </a:p>
              <a:p>
                <a:r>
                  <a:rPr lang="en-US" sz="1200" dirty="0">
                    <a:latin typeface="Aptos" panose="020B0004020202020204" pitchFamily="34" charset="0"/>
                  </a:rPr>
                  <a:t>Among AR, MA, ARIMA, </a:t>
                </a:r>
                <a:r>
                  <a:rPr lang="en-US" sz="1200" u="sng" dirty="0">
                    <a:latin typeface="Aptos" panose="020B0004020202020204" pitchFamily="34" charset="0"/>
                  </a:rPr>
                  <a:t>ARIMA model performs better. </a:t>
                </a:r>
              </a:p>
              <a:p>
                <a:r>
                  <a:rPr lang="en-US" sz="1200" u="sng" dirty="0">
                    <a:latin typeface="Aptos" panose="020B0004020202020204" pitchFamily="34" charset="0"/>
                  </a:rPr>
                  <a:t>Process on decomposed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u="sng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u="sng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1200" b="0" i="1" u="sng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200" dirty="0">
                    <a:latin typeface="Aptos" panose="020B0004020202020204" pitchFamily="34" charset="0"/>
                  </a:rPr>
                  <a:t>: ARIMA(2, 0, 2)  is the best choice. </a:t>
                </a:r>
              </a:p>
              <a:p>
                <a:r>
                  <a:rPr lang="en-US" sz="1200" u="sng" dirty="0">
                    <a:latin typeface="Aptos" panose="020B0004020202020204" pitchFamily="34" charset="0"/>
                  </a:rPr>
                  <a:t>Process on Original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u="sng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u="sng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1200" b="0" i="1" u="sng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200" dirty="0">
                    <a:latin typeface="Aptos" panose="020B0004020202020204" pitchFamily="34" charset="0"/>
                  </a:rPr>
                  <a:t>: ARIMA(2, 1, 2)  is the best choice. </a:t>
                </a:r>
              </a:p>
              <a:p>
                <a:r>
                  <a:rPr lang="en-US" sz="1200" dirty="0">
                    <a:latin typeface="Aptos" panose="020B0004020202020204" pitchFamily="34" charset="0"/>
                  </a:rPr>
                  <a:t>Which make sense, because d =1 is the “on step differencing”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200" dirty="0">
                    <a:latin typeface="Aptos" panose="020B0004020202020204" pitchFamily="34" charset="0"/>
                  </a:rPr>
                  <a:t> to get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200" dirty="0">
                    <a:latin typeface="Aptos" panose="020B0004020202020204" pitchFamily="34" charset="0"/>
                  </a:rPr>
                  <a:t> </a:t>
                </a:r>
              </a:p>
              <a:p>
                <a:endParaRPr lang="en-US" sz="1200" dirty="0">
                  <a:latin typeface="Aptos" panose="020B0004020202020204" pitchFamily="34" charset="0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B0A0569-69E6-0DA6-936F-6C28D265A4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526" y="1759952"/>
                <a:ext cx="6035907" cy="1200329"/>
              </a:xfrm>
              <a:prstGeom prst="rect">
                <a:avLst/>
              </a:prstGeom>
              <a:blipFill>
                <a:blip r:embed="rId2"/>
                <a:stretch>
                  <a:fillRect t="-5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CA9C5F42-D112-3DE7-DB89-9D8A0FE9401C}"/>
              </a:ext>
            </a:extLst>
          </p:cNvPr>
          <p:cNvSpPr txBox="1"/>
          <p:nvPr/>
        </p:nvSpPr>
        <p:spPr>
          <a:xfrm>
            <a:off x="511850" y="3174573"/>
            <a:ext cx="542358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i="1" dirty="0">
                <a:latin typeface="Aptos" panose="020B0004020202020204" pitchFamily="34" charset="0"/>
              </a:rPr>
              <a:t>More details will be covered in final report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Aptos" panose="020B0004020202020204" pitchFamily="34" charset="0"/>
              </a:rPr>
              <a:t>Causality, invertibility,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Aptos" panose="020B0004020202020204" pitchFamily="34" charset="0"/>
              </a:rPr>
              <a:t>ARFIMA  (long memory process)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Aptos" panose="020B0004020202020204" pitchFamily="34" charset="0"/>
              </a:rPr>
              <a:t>Check whether ARCH, GARCH model are applicable</a:t>
            </a:r>
          </a:p>
          <a:p>
            <a:endParaRPr lang="en-US" sz="12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39679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01D809B-32C2-4C52-0706-9866F6DE8422}"/>
              </a:ext>
            </a:extLst>
          </p:cNvPr>
          <p:cNvSpPr txBox="1"/>
          <p:nvPr/>
        </p:nvSpPr>
        <p:spPr>
          <a:xfrm>
            <a:off x="2185404" y="1925419"/>
            <a:ext cx="45016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THANKS</a:t>
            </a:r>
            <a:r>
              <a:rPr lang="en-US" dirty="0"/>
              <a:t> 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Q &amp; A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7BA7556-E5B2-862E-DDF1-D0E334163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921412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2012</TotalTime>
  <Words>1595</Words>
  <Application>Microsoft Office PowerPoint</Application>
  <PresentationFormat>On-screen Show (16:9)</PresentationFormat>
  <Paragraphs>292</Paragraphs>
  <Slides>21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Aptos</vt:lpstr>
      <vt:lpstr>Arial</vt:lpstr>
      <vt:lpstr>Calibri</vt:lpstr>
      <vt:lpstr>Cambria Math</vt:lpstr>
      <vt:lpstr>Times New Roman</vt:lpstr>
      <vt:lpstr>Tw Cen MT</vt:lpstr>
      <vt:lpstr>Droplet</vt:lpstr>
      <vt:lpstr>Analysis of Time Series Models  for Electricity Consumption Forecasting</vt:lpstr>
      <vt:lpstr>Contents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Outlier Study and Linear Regression Diagnosis for Stock Price Anomaly Detections</dc:title>
  <dc:creator>Qianqian Yao, Bryce Fike</dc:creator>
  <cp:keywords/>
  <cp:lastModifiedBy>Andreea Q.Y</cp:lastModifiedBy>
  <cp:revision>239</cp:revision>
  <dcterms:created xsi:type="dcterms:W3CDTF">2023-11-13T22:37:33Z</dcterms:created>
  <dcterms:modified xsi:type="dcterms:W3CDTF">2024-05-02T15:48:50Z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2023-11-13</vt:lpwstr>
  </property>
  <property fmtid="{D5CDD505-2E9C-101B-9397-08002B2CF9AE}" pid="3" name="output">
    <vt:lpwstr>powerpoint_presentation</vt:lpwstr>
  </property>
</Properties>
</file>